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314" r:id="rId5"/>
    <p:sldId id="315" r:id="rId6"/>
    <p:sldId id="316" r:id="rId7"/>
    <p:sldId id="318" r:id="rId8"/>
    <p:sldId id="327" r:id="rId9"/>
    <p:sldId id="328" r:id="rId10"/>
    <p:sldId id="329" r:id="rId11"/>
    <p:sldId id="319" r:id="rId12"/>
    <p:sldId id="320" r:id="rId13"/>
    <p:sldId id="330" r:id="rId14"/>
    <p:sldId id="331" r:id="rId15"/>
    <p:sldId id="326" r:id="rId16"/>
    <p:sldId id="333" r:id="rId17"/>
    <p:sldId id="334" r:id="rId18"/>
    <p:sldId id="335" r:id="rId19"/>
    <p:sldId id="336" r:id="rId20"/>
    <p:sldId id="3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>
        <p:scale>
          <a:sx n="77" d="100"/>
          <a:sy n="77" d="100"/>
        </p:scale>
        <p:origin x="912" y="91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CD595-821D-0813-DDF7-0395707B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9E2D-AF4D-D00D-8202-04DDC69AC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23D65-D16B-BA4E-779B-95C365E86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34C79-741B-14FB-5000-8DBA40455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04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082E-E693-22FE-0A27-21BD7BBC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6946A-FDA7-E73C-9F1C-2EA6BE230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55739-8781-ABB0-FC8F-B32CDF449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1) - gemessene Arten der Luftverschmutzung: Feinstaub - Partikel &lt;= 10 </a:t>
            </a:r>
            <a:r>
              <a:rPr lang="de-DE" b="1" dirty="0"/>
              <a:t>µm </a:t>
            </a:r>
            <a:r>
              <a:rPr lang="de-DE" dirty="0"/>
              <a:t>(PM10), Kohlenmonoxid (CO), Ozon (O3), Schwefeldioxid (SO2), Stickstoffdioxid (NO2), Blei im Feinstaub (PM10PB), Benzo(a)</a:t>
            </a:r>
            <a:r>
              <a:rPr lang="de-DE" dirty="0" err="1"/>
              <a:t>pyren</a:t>
            </a:r>
            <a:r>
              <a:rPr lang="de-DE" dirty="0"/>
              <a:t> im Feinstaub (PM10BAP), Benzol (CHB), Feinstaub - Partikel &lt;= 2 </a:t>
            </a:r>
            <a:r>
              <a:rPr lang="de-DE" b="1" dirty="0"/>
              <a:t>µm </a:t>
            </a:r>
            <a:r>
              <a:rPr lang="de-DE" dirty="0"/>
              <a:t>(PM2), Arsen im Feinstaub (PM10AS), Cadmium im Feinstaub (PM10CD), Nickel im Feinstaub (PM10NI)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2) - Bereiche in denen gemessen wird: alles Bundesländer + UBA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3) - Tagesmittel, Ein-Stunden-Mittelwert, Ein-Stunden-Tagesmaxima, Acht-Stunden-Mittelwert, Acht-Stunden-Tagesmaxima, Tagesmittel (stündlich gleitend)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4) - Lage der Messstation: städtisches Gebiet, vorstädtisches Gebiet, ländliches Gebiet, ländlich abgelegen, ländliche regional, ländlich stadtnah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5) - Stationstypen (was messen sie): Hintergrund, Industrie, Verkehr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6) - </a:t>
            </a:r>
            <a:r>
              <a:rPr lang="de-DE" dirty="0" err="1"/>
              <a:t>Thresholds</a:t>
            </a:r>
            <a:r>
              <a:rPr lang="de-DE" dirty="0"/>
              <a:t> (Klassifizierungsstufen für die Luftverschmutzung): von 0 bis 4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7) - Ausgabe wann bestimmte Verschmutzungsgrenzen überschritten wurden</a:t>
            </a:r>
            <a:endParaRPr lang="en-DE" dirty="0"/>
          </a:p>
          <a:p>
            <a:pPr marL="0" indent="0">
              <a:buNone/>
            </a:pPr>
            <a:r>
              <a:rPr lang="de-DE" dirty="0"/>
              <a:t>8) - viele der oben genannten Kriterien vereint unter einer Suchanfrage mit zeitlicher Abgrenzungsmöglichkeit</a:t>
            </a:r>
            <a:endParaRPr lang="en-DE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Measured types of air pollution: particulate matter ≤ 10 µm (PM10), carbon monoxide (CO), ozone (O3), sulfur dioxide (SO2), nitrogen dioxide (NO2), lead in particulate matter (PM10Pb), benzo(a)pyrene in particulate matter (PM10BaP), benzene (C6H6), particulate matter ≤ 2.5 µm (PM2.5), arsenic in particulate matter (PM10As), cadmium in particulate matter (PM10Cd), nickel in particulate matter (PM10Ni)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4691E-A526-4780-0C59-D80DD07C4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24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2A783-9D19-3F08-871A-4A4D48A6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B76CA-868C-E62B-53C6-B8E0493B4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B10DE-D568-FCD1-6440-9CEC686A2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33699-237B-62EC-2BD0-AFA0A8B83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96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4B313-700F-284D-B28E-B582D1BA1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03502-EA9B-0687-250C-69F01FA36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49245-0387-A67F-0E59-CBDB49818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C6B10-122B-1EFC-3B3E-75EE25840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27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99012-7FB2-04F7-37D9-E52E45F34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72639-A5B8-3B7E-5DA7-F6CB813B6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15DF4-D00A-D7D3-37D5-225632A76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18E62-5578-4432-0AF1-156ACC6A8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726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3457-FE94-579A-530E-AA67F085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2F489-786E-6070-EB52-DD28EFEF9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B63E6-B9D2-8FBF-11BC-F61AA3FC3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146B5-7A87-3A3C-93EC-6FC7D0A09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168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B79D-0981-235C-75F1-DE4B727C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6CA65-DF2F-3495-8A93-4FEB3200A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B41BD-B558-7F1D-3DCC-8ABFBA2A9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Extra </a:t>
            </a:r>
            <a:r>
              <a:rPr lang="en-US" dirty="0" err="1"/>
              <a:t>Fragen</a:t>
            </a:r>
            <a:br>
              <a:rPr lang="en-US" dirty="0"/>
            </a:br>
            <a:r>
              <a:rPr lang="de-DE" altLang="de-DE" sz="1200" dirty="0"/>
              <a:t> </a:t>
            </a:r>
            <a:r>
              <a:rPr lang="de-DE" altLang="de-DE" sz="1200" dirty="0" err="1"/>
              <a:t>Which</a:t>
            </a:r>
            <a:r>
              <a:rPr lang="de-DE" altLang="de-DE" sz="1200" dirty="0"/>
              <a:t> </a:t>
            </a:r>
            <a:r>
              <a:rPr lang="de-DE" altLang="de-DE" sz="1200" dirty="0" err="1"/>
              <a:t>training</a:t>
            </a:r>
            <a:r>
              <a:rPr lang="de-DE" altLang="de-DE" sz="1200" dirty="0"/>
              <a:t> </a:t>
            </a:r>
            <a:r>
              <a:rPr lang="de-DE" altLang="de-DE" sz="1200" dirty="0" err="1"/>
              <a:t>providers</a:t>
            </a:r>
            <a:r>
              <a:rPr lang="de-DE" altLang="de-DE" sz="1200" dirty="0"/>
              <a:t> </a:t>
            </a:r>
            <a:r>
              <a:rPr lang="de-DE" altLang="de-DE" sz="1200" dirty="0" err="1"/>
              <a:t>act</a:t>
            </a:r>
            <a:r>
              <a:rPr lang="de-DE" altLang="de-DE" sz="1200" dirty="0"/>
              <a:t> </a:t>
            </a:r>
            <a:r>
              <a:rPr lang="de-DE" altLang="de-DE" sz="1200" dirty="0" err="1"/>
              <a:t>as</a:t>
            </a:r>
            <a:r>
              <a:rPr lang="de-DE" altLang="de-DE" sz="1200" dirty="0"/>
              <a:t> “</a:t>
            </a:r>
            <a:r>
              <a:rPr lang="de-DE" altLang="de-DE" sz="1200" dirty="0" err="1"/>
              <a:t>suppliers</a:t>
            </a:r>
            <a:r>
              <a:rPr lang="de-DE" altLang="de-DE" sz="1200" dirty="0"/>
              <a:t>” </a:t>
            </a:r>
            <a:r>
              <a:rPr lang="de-DE" altLang="de-DE" sz="1200" dirty="0" err="1"/>
              <a:t>to</a:t>
            </a:r>
            <a:r>
              <a:rPr lang="de-DE" altLang="de-DE" sz="1200" dirty="0"/>
              <a:t> </a:t>
            </a:r>
            <a:r>
              <a:rPr lang="de-DE" altLang="de-DE" sz="1200" dirty="0" err="1"/>
              <a:t>which</a:t>
            </a:r>
            <a:r>
              <a:rPr lang="de-DE" altLang="de-DE" sz="1200" dirty="0"/>
              <a:t> </a:t>
            </a:r>
            <a:r>
              <a:rPr lang="de-DE" altLang="de-DE" sz="1200" dirty="0" err="1"/>
              <a:t>employer</a:t>
            </a:r>
            <a:r>
              <a:rPr lang="de-DE" altLang="de-DE" sz="1200" dirty="0"/>
              <a:t> </a:t>
            </a:r>
            <a:r>
              <a:rPr lang="de-DE" altLang="de-DE" sz="1200" dirty="0" err="1"/>
              <a:t>clusters</a:t>
            </a:r>
            <a:r>
              <a:rPr lang="de-DE" altLang="de-DE" sz="1200" dirty="0"/>
              <a:t>, and do </a:t>
            </a:r>
            <a:r>
              <a:rPr lang="de-DE" altLang="de-DE" sz="1200" dirty="0" err="1"/>
              <a:t>candidate</a:t>
            </a:r>
            <a:r>
              <a:rPr lang="de-DE" altLang="de-DE" sz="1200" dirty="0"/>
              <a:t> </a:t>
            </a:r>
            <a:r>
              <a:rPr lang="de-DE" altLang="de-DE" sz="1200" dirty="0" err="1"/>
              <a:t>profiles</a:t>
            </a:r>
            <a:r>
              <a:rPr lang="de-DE" altLang="de-DE" sz="1200" dirty="0"/>
              <a:t> fit </a:t>
            </a:r>
            <a:r>
              <a:rPr lang="de-DE" altLang="de-DE" sz="1200" dirty="0" err="1"/>
              <a:t>those</a:t>
            </a:r>
            <a:r>
              <a:rPr lang="de-DE" altLang="de-DE" sz="1200" dirty="0"/>
              <a:t> </a:t>
            </a:r>
            <a:r>
              <a:rPr lang="de-DE" altLang="de-DE" sz="1200" dirty="0" err="1"/>
              <a:t>clusters</a:t>
            </a:r>
            <a:r>
              <a:rPr lang="de-DE" altLang="de-DE" sz="1200" dirty="0"/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1200" dirty="0"/>
              <a:t> Do </a:t>
            </a:r>
            <a:r>
              <a:rPr lang="de-DE" altLang="de-DE" sz="1200" dirty="0" err="1"/>
              <a:t>the</a:t>
            </a:r>
            <a:r>
              <a:rPr lang="de-DE" altLang="de-DE" sz="1200" dirty="0"/>
              <a:t> </a:t>
            </a:r>
            <a:r>
              <a:rPr lang="de-DE" altLang="de-DE" sz="1200" dirty="0" err="1"/>
              <a:t>skills</a:t>
            </a:r>
            <a:r>
              <a:rPr lang="de-DE" altLang="de-DE" sz="1200" dirty="0"/>
              <a:t> in </a:t>
            </a:r>
            <a:r>
              <a:rPr lang="de-DE" altLang="de-DE" sz="1200" dirty="0" err="1"/>
              <a:t>job</a:t>
            </a:r>
            <a:r>
              <a:rPr lang="de-DE" altLang="de-DE" sz="1200" dirty="0"/>
              <a:t> </a:t>
            </a:r>
            <a:r>
              <a:rPr lang="de-DE" altLang="de-DE" sz="1200" dirty="0" err="1"/>
              <a:t>postings</a:t>
            </a:r>
            <a:r>
              <a:rPr lang="de-DE" altLang="de-DE" sz="1200" dirty="0"/>
              <a:t> </a:t>
            </a:r>
            <a:r>
              <a:rPr lang="de-DE" altLang="de-DE" sz="1200" dirty="0" err="1"/>
              <a:t>align</a:t>
            </a:r>
            <a:r>
              <a:rPr lang="de-DE" altLang="de-DE" sz="1200" dirty="0"/>
              <a:t> </a:t>
            </a:r>
            <a:r>
              <a:rPr lang="de-DE" altLang="de-DE" sz="1200" dirty="0" err="1"/>
              <a:t>with</a:t>
            </a:r>
            <a:r>
              <a:rPr lang="de-DE" altLang="de-DE" sz="1200" dirty="0"/>
              <a:t> </a:t>
            </a:r>
            <a:r>
              <a:rPr lang="de-DE" altLang="de-DE" sz="1200" dirty="0" err="1"/>
              <a:t>the</a:t>
            </a:r>
            <a:r>
              <a:rPr lang="de-DE" altLang="de-DE" sz="1200" dirty="0"/>
              <a:t> </a:t>
            </a:r>
            <a:r>
              <a:rPr lang="de-DE" altLang="de-DE" sz="1200" dirty="0" err="1"/>
              <a:t>content</a:t>
            </a:r>
            <a:r>
              <a:rPr lang="de-DE" altLang="de-DE" sz="1200" dirty="0"/>
              <a:t>/</a:t>
            </a:r>
            <a:r>
              <a:rPr lang="de-DE" altLang="de-DE" sz="1200" dirty="0" err="1"/>
              <a:t>profiles</a:t>
            </a:r>
            <a:r>
              <a:rPr lang="de-DE" altLang="de-DE" sz="1200" dirty="0"/>
              <a:t> in </a:t>
            </a:r>
            <a:r>
              <a:rPr lang="de-DE" altLang="de-DE" sz="1200" dirty="0" err="1"/>
              <a:t>training</a:t>
            </a:r>
            <a:r>
              <a:rPr lang="de-DE" altLang="de-DE" sz="1200" dirty="0"/>
              <a:t> </a:t>
            </a:r>
            <a:r>
              <a:rPr lang="de-DE" altLang="de-DE" sz="1200" dirty="0" err="1"/>
              <a:t>programs</a:t>
            </a:r>
            <a:r>
              <a:rPr lang="de-DE" altLang="de-DE" sz="1200" dirty="0"/>
              <a:t> (</a:t>
            </a:r>
            <a:r>
              <a:rPr lang="de-DE" altLang="de-DE" sz="1200" dirty="0" err="1"/>
              <a:t>offer</a:t>
            </a:r>
            <a:r>
              <a:rPr lang="de-DE" altLang="de-DE" sz="1200" dirty="0"/>
              <a:t> </a:t>
            </a:r>
            <a:r>
              <a:rPr lang="de-DE" altLang="de-DE" sz="1200" dirty="0" err="1"/>
              <a:t>descriptions</a:t>
            </a:r>
            <a:r>
              <a:rPr lang="de-DE" altLang="de-DE" sz="1200" dirty="0"/>
              <a:t>) and </a:t>
            </a:r>
            <a:r>
              <a:rPr lang="de-DE" altLang="de-DE" sz="1200" dirty="0" err="1"/>
              <a:t>candidate</a:t>
            </a:r>
            <a:r>
              <a:rPr lang="de-DE" altLang="de-DE" sz="1200" dirty="0"/>
              <a:t> </a:t>
            </a:r>
            <a:r>
              <a:rPr lang="de-DE" altLang="de-DE" sz="1200" dirty="0" err="1"/>
              <a:t>profiles</a:t>
            </a:r>
            <a:r>
              <a:rPr lang="de-DE" altLang="de-DE" sz="1200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46773-75B2-118A-EB72-C03DC1D11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86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15F72-CFD4-D408-5143-FFFF2C1E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B3193-ED23-40CE-5B2D-E60DF89FF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B099B-CEE9-83A7-F62F-AF643F65D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0F43E-B90B-ADC3-6AB5-9952F5137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958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F2AB4-C377-E798-2D9D-1C1DBC0D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52CE1-AB3F-67A6-B317-E636DFEAE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D1C87-AD84-CA95-3993-45CF9D7E3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92D78-0153-0414-1E94-E5FE4FA36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499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03A43-2267-8DBE-8F24-3E6BE371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1A5D9-4071-88F4-FDDC-23FE20C54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2D6B8-14A1-1C50-5041-9EDF99FD2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A1FCF-469E-5D59-7ECD-D7AFECF95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002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2773681"/>
            <a:ext cx="6795589" cy="3200400"/>
          </a:xfrm>
        </p:spPr>
        <p:txBody>
          <a:bodyPr/>
          <a:lstStyle/>
          <a:p>
            <a:r>
              <a:rPr lang="en-US" dirty="0"/>
              <a:t>Data-Science-Project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D9461-B586-5242-1D98-FC144B6F5C2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de-DE" dirty="0"/>
              <a:t>Air Pollution</a:t>
            </a:r>
          </a:p>
          <a:p>
            <a:pPr marL="342900" indent="-342900">
              <a:buFontTx/>
              <a:buChar char="-"/>
            </a:pPr>
            <a:r>
              <a:rPr lang="de-DE" dirty="0"/>
              <a:t>Movies</a:t>
            </a:r>
          </a:p>
          <a:p>
            <a:pPr marL="342900" indent="-342900">
              <a:buFontTx/>
              <a:buChar char="-"/>
            </a:pPr>
            <a:r>
              <a:rPr lang="de-DE" dirty="0"/>
              <a:t>Arbeitsmarkt</a:t>
            </a:r>
            <a:endParaRPr lang="en-D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85EFD8C-9F53-87C8-6E18-DFA189F8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580640"/>
            <a:ext cx="6509657" cy="3368819"/>
          </a:xfrm>
        </p:spPr>
        <p:txBody>
          <a:bodyPr/>
          <a:lstStyle/>
          <a:p>
            <a:r>
              <a:rPr lang="en-US" dirty="0"/>
              <a:t>Air pollution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653FBA-57C1-8AFA-803B-F0FCC740AB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Pollution - Questions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132C3-EDB2-0E3B-98F1-1D8F26B5C7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979230" cy="415575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600" b="1" dirty="0"/>
              <a:t>1. How have the annual mean concentrations of PM10, PM2, and NO₂ in Germany developed over the period 2000–2025?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b="1" dirty="0"/>
              <a:t>2. Were there significant changes in NO₂ and PM10 concentrations during the COVID-19-related mobility restrictions compared to the same periods in previous years?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b="1" dirty="0"/>
              <a:t>3. Do the daily mean values of PM10 and PM2 on New Years differ significantly between the years 2000–2025?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/>
              <a:t>4. Are there significant differences in the annual mean PM2 concentrations between the German federal states over the past 25 years?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/>
              <a:t>5. Do PM10 concentrations differ significantly between urban, suburban, and rural monitoring stations?</a:t>
            </a:r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E7A8-B0C8-428E-FF7D-5C66FF46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4526-67CB-CCC2-F24B-4FF3A682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Air Pollution - </a:t>
            </a:r>
            <a:r>
              <a:rPr lang="en-US" sz="3200" dirty="0" err="1"/>
              <a:t>QUestions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F0EBE-0120-BBA0-E9E4-975498B90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B5248-9F82-0CCB-A2D4-7228D9E5AB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/>
              <a:t>6. How do the annual mean PM2 concentrations in Germany compare to those in comparable EU countries over the period 2000–2025?</a:t>
            </a:r>
          </a:p>
          <a:p>
            <a:pPr marL="0" indent="0">
              <a:buNone/>
            </a:pPr>
            <a:r>
              <a:rPr lang="en-GB" sz="1600" dirty="0"/>
              <a:t>7. How strongly do PM10 concentrations vary between the seasons?</a:t>
            </a:r>
            <a:endParaRPr lang="en-GB" sz="1600" b="1" dirty="0"/>
          </a:p>
          <a:p>
            <a:pPr marL="0" indent="0">
              <a:buNone/>
            </a:pPr>
            <a:r>
              <a:rPr lang="en-GB" sz="1600" b="1" dirty="0"/>
              <a:t>8. Is there a significant positive correlation between O₃ concentrations and daily maximum temperatures in the German federal states?</a:t>
            </a:r>
          </a:p>
          <a:p>
            <a:pPr marL="0" indent="0">
              <a:buNone/>
            </a:pPr>
            <a:r>
              <a:rPr lang="en-GB" sz="1600" dirty="0"/>
              <a:t>9. Is there a relationship between seasonal tourism intensity and short-term changes in NO₂ or PM10 concentrations in tourist regions?</a:t>
            </a:r>
          </a:p>
        </p:txBody>
      </p:sp>
    </p:spTree>
    <p:extLst>
      <p:ext uri="{BB962C8B-B14F-4D97-AF65-F5344CB8AC3E}">
        <p14:creationId xmlns:p14="http://schemas.microsoft.com/office/powerpoint/2010/main" val="396977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11D73-8B08-F823-C04B-9D49D5FA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FDB1-704C-238A-5CCD-BA0A8E5B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58201" cy="1646555"/>
          </a:xfrm>
        </p:spPr>
        <p:txBody>
          <a:bodyPr/>
          <a:lstStyle/>
          <a:p>
            <a:r>
              <a:rPr lang="en-US" dirty="0"/>
              <a:t>Air Pollution</a:t>
            </a:r>
            <a:r>
              <a:rPr lang="en-US" sz="3200" dirty="0"/>
              <a:t> – Measurement criteria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B4E79-8EB3-EAE9-8F45-513222791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604483-120F-7AF8-CE69-4DDD3CEAB0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Pollution concentration of different particles</a:t>
            </a:r>
          </a:p>
          <a:p>
            <a:r>
              <a:rPr lang="en-US" sz="1600" dirty="0"/>
              <a:t>Measurement coverage: all federal states plus the German Environment Agency (UBA)</a:t>
            </a:r>
          </a:p>
          <a:p>
            <a:r>
              <a:rPr lang="en-US" sz="1600" dirty="0"/>
              <a:t>Available aggregation windows: daily mean, 1-hour mean, 1-hour daily maxima, 8-hour mean, 8-hour daily maxima, rolling hourly daily mean</a:t>
            </a:r>
          </a:p>
          <a:p>
            <a:r>
              <a:rPr lang="en-US" sz="1600" dirty="0"/>
              <a:t>Station location context: urban area, suburban area, rural area, remote rural, regional rural, peri-urban rural</a:t>
            </a:r>
          </a:p>
          <a:p>
            <a:r>
              <a:rPr lang="en-US" sz="1600" dirty="0"/>
              <a:t>Station types (what they measure/are sited for): background, industrial, traffic</a:t>
            </a:r>
          </a:p>
          <a:p>
            <a:r>
              <a:rPr lang="en-US" sz="1600" dirty="0"/>
              <a:t>Thresholds (classification levels for air pollution): from 0 to 4</a:t>
            </a:r>
          </a:p>
          <a:p>
            <a:r>
              <a:rPr lang="en-US" sz="1600" dirty="0"/>
              <a:t>Output indicating when specific pollution thresholds were exceeded</a:t>
            </a:r>
          </a:p>
          <a:p>
            <a:r>
              <a:rPr lang="en-US" sz="1600" dirty="0"/>
              <a:t>Unified search/filter that combines many of the above criteria with the ability to specify time ranges</a:t>
            </a:r>
          </a:p>
          <a:p>
            <a:pPr lvl="0"/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233865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5370-C757-726E-5FF8-1FA1ECEA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D1E8-BDE0-0655-DCDE-46020B9E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pollution</a:t>
            </a:r>
            <a:r>
              <a:rPr lang="en-US" sz="3200" dirty="0"/>
              <a:t> - API</a:t>
            </a:r>
            <a:r>
              <a:rPr lang="en-US" sz="2400" b="1" dirty="0"/>
              <a:t>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9CE2E-01C8-1F02-2284-04FFFCED9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CAE08-34BE-B312-8081-52845E73133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de-DE" sz="1800" dirty="0" err="1"/>
              <a:t>Bund.DEV</a:t>
            </a:r>
            <a:r>
              <a:rPr lang="de-DE" sz="1800" dirty="0"/>
              <a:t> </a:t>
            </a:r>
            <a:r>
              <a:rPr lang="de-DE" sz="1800" dirty="0" err="1"/>
              <a:t>air</a:t>
            </a:r>
            <a:r>
              <a:rPr lang="de-DE" sz="1800" dirty="0"/>
              <a:t> </a:t>
            </a:r>
            <a:r>
              <a:rPr lang="de-DE" sz="1800" dirty="0" err="1"/>
              <a:t>quality</a:t>
            </a:r>
            <a:r>
              <a:rPr lang="de-DE" sz="1800" dirty="0"/>
              <a:t> API </a:t>
            </a:r>
          </a:p>
          <a:p>
            <a:r>
              <a:rPr lang="de-DE" sz="1800" dirty="0"/>
              <a:t>Umweltbundesamt </a:t>
            </a:r>
            <a:r>
              <a:rPr lang="de-DE" sz="1800" dirty="0" err="1"/>
              <a:t>air</a:t>
            </a:r>
            <a:r>
              <a:rPr lang="de-DE" sz="1800" dirty="0"/>
              <a:t> </a:t>
            </a:r>
            <a:r>
              <a:rPr lang="de-DE" sz="1800" dirty="0" err="1"/>
              <a:t>data</a:t>
            </a:r>
            <a:r>
              <a:rPr lang="de-DE" sz="1800" dirty="0"/>
              <a:t> API</a:t>
            </a:r>
          </a:p>
          <a:p>
            <a:r>
              <a:rPr lang="de-DE" sz="1800" dirty="0"/>
              <a:t>Open-Meteo </a:t>
            </a:r>
            <a:r>
              <a:rPr lang="de-DE" sz="1800" dirty="0" err="1"/>
              <a:t>weather</a:t>
            </a:r>
            <a:r>
              <a:rPr lang="de-DE" sz="1800" dirty="0"/>
              <a:t> API</a:t>
            </a:r>
            <a:endParaRPr lang="en-DE" sz="1800" dirty="0"/>
          </a:p>
          <a:p>
            <a:r>
              <a:rPr lang="de-DE" sz="1800" dirty="0" err="1"/>
              <a:t>Tourism</a:t>
            </a:r>
            <a:r>
              <a:rPr lang="de-DE" sz="1800" dirty="0"/>
              <a:t> EU API</a:t>
            </a: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3137142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/>
          <a:lstStyle/>
          <a:p>
            <a:r>
              <a:rPr lang="en-US" dirty="0"/>
              <a:t>Movies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/>
          <a:lstStyle/>
          <a:p>
            <a:endParaRPr lang="en-US" noProof="1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D93B73-7F8F-B185-FCFB-43D30AEC7D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dirty="0"/>
              <a:t>Movies - questions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A2A866-32E8-7ECA-A581-4AA876CAF02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dirty="0"/>
              <a:t>1. </a:t>
            </a:r>
            <a:r>
              <a:rPr lang="de-DE" sz="1600" b="1" dirty="0" err="1"/>
              <a:t>Does</a:t>
            </a:r>
            <a:r>
              <a:rPr lang="de-DE" sz="1600" b="1" dirty="0"/>
              <a:t> </a:t>
            </a:r>
            <a:r>
              <a:rPr lang="de-DE" sz="1600" b="1" dirty="0" err="1"/>
              <a:t>the</a:t>
            </a:r>
            <a:r>
              <a:rPr lang="de-DE" sz="1600" b="1" dirty="0"/>
              <a:t> release </a:t>
            </a:r>
            <a:r>
              <a:rPr lang="de-DE" sz="1600" b="1" dirty="0" err="1"/>
              <a:t>of</a:t>
            </a:r>
            <a:r>
              <a:rPr lang="de-DE" sz="1600" b="1" dirty="0"/>
              <a:t> „</a:t>
            </a:r>
            <a:r>
              <a:rPr lang="de-DE" sz="1600" b="1" dirty="0" err="1"/>
              <a:t>big</a:t>
            </a:r>
            <a:r>
              <a:rPr lang="de-DE" sz="1600" b="1" dirty="0"/>
              <a:t>“ and </a:t>
            </a:r>
            <a:r>
              <a:rPr lang="de-DE" sz="1600" b="1" dirty="0" err="1"/>
              <a:t>successful</a:t>
            </a:r>
            <a:r>
              <a:rPr lang="de-DE" sz="1600" b="1" dirty="0"/>
              <a:t> </a:t>
            </a:r>
            <a:r>
              <a:rPr lang="de-DE" sz="1600" b="1" dirty="0" err="1"/>
              <a:t>movie</a:t>
            </a:r>
            <a:r>
              <a:rPr lang="de-DE" sz="1600" b="1" dirty="0"/>
              <a:t> </a:t>
            </a:r>
            <a:r>
              <a:rPr lang="de-DE" sz="1600" b="1" dirty="0" err="1"/>
              <a:t>releases</a:t>
            </a:r>
            <a:r>
              <a:rPr lang="de-DE" sz="1600" b="1" dirty="0"/>
              <a:t> </a:t>
            </a:r>
            <a:r>
              <a:rPr lang="de-DE" sz="1600" b="1" dirty="0" err="1"/>
              <a:t>influence</a:t>
            </a:r>
            <a:r>
              <a:rPr lang="de-DE" sz="1600" b="1" dirty="0"/>
              <a:t> </a:t>
            </a:r>
            <a:r>
              <a:rPr lang="de-DE" sz="1600" b="1" dirty="0" err="1"/>
              <a:t>the</a:t>
            </a:r>
            <a:r>
              <a:rPr lang="de-DE" sz="1600" b="1" dirty="0"/>
              <a:t> </a:t>
            </a:r>
            <a:r>
              <a:rPr lang="de-DE" sz="1600" b="1" dirty="0" err="1"/>
              <a:t>popularity</a:t>
            </a:r>
            <a:r>
              <a:rPr lang="de-DE" sz="1600" b="1" dirty="0"/>
              <a:t> </a:t>
            </a:r>
            <a:r>
              <a:rPr lang="de-DE" sz="1600" b="1" dirty="0" err="1"/>
              <a:t>of</a:t>
            </a:r>
            <a:r>
              <a:rPr lang="de-DE" sz="1600" b="1" dirty="0"/>
              <a:t> </a:t>
            </a:r>
            <a:r>
              <a:rPr lang="de-DE" sz="1600" b="1" dirty="0" err="1"/>
              <a:t>the</a:t>
            </a:r>
            <a:r>
              <a:rPr lang="de-DE" sz="1600" b="1" dirty="0"/>
              <a:t> </a:t>
            </a:r>
            <a:r>
              <a:rPr lang="de-DE" sz="1600" b="1" dirty="0" err="1"/>
              <a:t>genre</a:t>
            </a:r>
            <a:r>
              <a:rPr lang="de-DE" sz="1600" b="1" dirty="0"/>
              <a:t>?</a:t>
            </a:r>
            <a:endParaRPr lang="en-DE" sz="1600" b="1" dirty="0"/>
          </a:p>
          <a:p>
            <a:pPr marL="0" indent="0">
              <a:buNone/>
            </a:pPr>
            <a:r>
              <a:rPr lang="de-DE" sz="1600" dirty="0"/>
              <a:t>2. </a:t>
            </a:r>
            <a:r>
              <a:rPr lang="de-DE" sz="1600" dirty="0" err="1"/>
              <a:t>Does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budget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a </a:t>
            </a:r>
            <a:r>
              <a:rPr lang="de-DE" sz="1600" dirty="0" err="1"/>
              <a:t>movie</a:t>
            </a:r>
            <a:r>
              <a:rPr lang="de-DE" sz="1600" dirty="0"/>
              <a:t> </a:t>
            </a:r>
            <a:r>
              <a:rPr lang="de-DE" sz="1600" dirty="0" err="1"/>
              <a:t>or</a:t>
            </a:r>
            <a:r>
              <a:rPr lang="de-DE" sz="1600" dirty="0"/>
              <a:t> </a:t>
            </a:r>
            <a:r>
              <a:rPr lang="de-DE" sz="1600" dirty="0" err="1"/>
              <a:t>show</a:t>
            </a:r>
            <a:r>
              <a:rPr lang="de-DE" sz="1600" dirty="0"/>
              <a:t> </a:t>
            </a:r>
            <a:r>
              <a:rPr lang="de-DE" sz="1600" dirty="0" err="1"/>
              <a:t>influence</a:t>
            </a:r>
            <a:r>
              <a:rPr lang="de-DE" sz="1600" dirty="0"/>
              <a:t> </a:t>
            </a:r>
            <a:r>
              <a:rPr lang="de-DE" sz="1600" dirty="0" err="1"/>
              <a:t>its</a:t>
            </a:r>
            <a:r>
              <a:rPr lang="de-DE" sz="1600" dirty="0"/>
              <a:t> </a:t>
            </a:r>
            <a:r>
              <a:rPr lang="de-DE" sz="1600" dirty="0" err="1"/>
              <a:t>success</a:t>
            </a:r>
            <a:r>
              <a:rPr lang="de-DE" sz="1600" dirty="0"/>
              <a:t>?</a:t>
            </a:r>
            <a:endParaRPr lang="en-DE" sz="1600" dirty="0"/>
          </a:p>
          <a:p>
            <a:pPr marL="0" indent="0">
              <a:buNone/>
            </a:pPr>
            <a:r>
              <a:rPr lang="de-DE" sz="1600" dirty="0"/>
              <a:t>3. </a:t>
            </a:r>
            <a:r>
              <a:rPr lang="de-DE" sz="1600" dirty="0" err="1"/>
              <a:t>What</a:t>
            </a:r>
            <a:r>
              <a:rPr lang="de-DE" sz="1600" dirty="0"/>
              <a:t> </a:t>
            </a:r>
            <a:r>
              <a:rPr lang="de-DE" sz="1600" dirty="0" err="1"/>
              <a:t>characteristics</a:t>
            </a:r>
            <a:r>
              <a:rPr lang="de-DE" sz="1600" dirty="0"/>
              <a:t> do </a:t>
            </a:r>
            <a:r>
              <a:rPr lang="de-DE" sz="1600" dirty="0" err="1"/>
              <a:t>influence</a:t>
            </a:r>
            <a:r>
              <a:rPr lang="de-DE" sz="1600" dirty="0"/>
              <a:t> </a:t>
            </a:r>
            <a:r>
              <a:rPr lang="de-DE" sz="1600" dirty="0" err="1"/>
              <a:t>movies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be</a:t>
            </a:r>
            <a:r>
              <a:rPr lang="de-DE" sz="1600" dirty="0"/>
              <a:t> </a:t>
            </a:r>
            <a:r>
              <a:rPr lang="de-DE" sz="1600" dirty="0" err="1"/>
              <a:t>discussed</a:t>
            </a:r>
            <a:r>
              <a:rPr lang="de-DE" sz="1600" dirty="0"/>
              <a:t> </a:t>
            </a:r>
            <a:r>
              <a:rPr lang="de-DE" sz="1600" dirty="0" err="1"/>
              <a:t>more</a:t>
            </a:r>
            <a:r>
              <a:rPr lang="de-DE" sz="1600" dirty="0"/>
              <a:t> online?</a:t>
            </a:r>
            <a:endParaRPr lang="en-DE" sz="1600" dirty="0"/>
          </a:p>
          <a:p>
            <a:pPr marL="0" indent="0">
              <a:buNone/>
            </a:pPr>
            <a:r>
              <a:rPr lang="de-DE" sz="1600" dirty="0"/>
              <a:t>4</a:t>
            </a:r>
            <a:r>
              <a:rPr lang="de-DE" sz="1600" b="1" dirty="0"/>
              <a:t>. </a:t>
            </a:r>
            <a:r>
              <a:rPr lang="de-DE" sz="1600" b="1" dirty="0" err="1"/>
              <a:t>Does</a:t>
            </a:r>
            <a:r>
              <a:rPr lang="de-DE" sz="1600" b="1" dirty="0"/>
              <a:t> </a:t>
            </a:r>
            <a:r>
              <a:rPr lang="de-DE" sz="1600" b="1" dirty="0" err="1"/>
              <a:t>the</a:t>
            </a:r>
            <a:r>
              <a:rPr lang="de-DE" sz="1600" b="1" dirty="0"/>
              <a:t> release </a:t>
            </a:r>
            <a:r>
              <a:rPr lang="de-DE" sz="1600" b="1" dirty="0" err="1"/>
              <a:t>timing</a:t>
            </a:r>
            <a:r>
              <a:rPr lang="de-DE" sz="1600" b="1" dirty="0"/>
              <a:t> </a:t>
            </a:r>
            <a:r>
              <a:rPr lang="de-DE" sz="1600" b="1" dirty="0" err="1"/>
              <a:t>of</a:t>
            </a:r>
            <a:r>
              <a:rPr lang="de-DE" sz="1600" b="1" dirty="0"/>
              <a:t> a </a:t>
            </a:r>
            <a:r>
              <a:rPr lang="de-DE" sz="1600" b="1" dirty="0" err="1"/>
              <a:t>movie</a:t>
            </a:r>
            <a:r>
              <a:rPr lang="de-DE" sz="1600" b="1" dirty="0"/>
              <a:t> </a:t>
            </a:r>
            <a:r>
              <a:rPr lang="de-DE" sz="1600" b="1" dirty="0" err="1"/>
              <a:t>or</a:t>
            </a:r>
            <a:r>
              <a:rPr lang="de-DE" sz="1600" b="1" dirty="0"/>
              <a:t> </a:t>
            </a:r>
            <a:r>
              <a:rPr lang="de-DE" sz="1600" b="1" dirty="0" err="1"/>
              <a:t>show</a:t>
            </a:r>
            <a:r>
              <a:rPr lang="de-DE" sz="1600" b="1" dirty="0"/>
              <a:t> </a:t>
            </a:r>
            <a:r>
              <a:rPr lang="de-DE" sz="1600" b="1" dirty="0" err="1"/>
              <a:t>influence</a:t>
            </a:r>
            <a:r>
              <a:rPr lang="de-DE" sz="1600" b="1" dirty="0"/>
              <a:t> </a:t>
            </a:r>
            <a:r>
              <a:rPr lang="de-DE" sz="1600" b="1" dirty="0" err="1"/>
              <a:t>it's</a:t>
            </a:r>
            <a:r>
              <a:rPr lang="de-DE" sz="1600" b="1" dirty="0"/>
              <a:t> </a:t>
            </a:r>
            <a:r>
              <a:rPr lang="de-DE" sz="1600" b="1" dirty="0" err="1"/>
              <a:t>success</a:t>
            </a:r>
            <a:r>
              <a:rPr lang="de-DE" sz="1600" b="1" dirty="0"/>
              <a:t>?</a:t>
            </a:r>
            <a:endParaRPr lang="en-DE" sz="1600" b="1" dirty="0"/>
          </a:p>
          <a:p>
            <a:pPr marL="0" indent="0">
              <a:buNone/>
            </a:pPr>
            <a:r>
              <a:rPr lang="de-DE" sz="1600" dirty="0"/>
              <a:t>5. </a:t>
            </a:r>
            <a:r>
              <a:rPr lang="de-DE" sz="1600" dirty="0" err="1"/>
              <a:t>What</a:t>
            </a:r>
            <a:r>
              <a:rPr lang="de-DE" sz="1600" dirty="0"/>
              <a:t> film </a:t>
            </a:r>
            <a:r>
              <a:rPr lang="de-DE" sz="1600" dirty="0" err="1"/>
              <a:t>genres</a:t>
            </a:r>
            <a:r>
              <a:rPr lang="de-DE" sz="1600" dirty="0"/>
              <a:t> </a:t>
            </a:r>
            <a:r>
              <a:rPr lang="de-DE" sz="1600" dirty="0" err="1"/>
              <a:t>gained</a:t>
            </a:r>
            <a:r>
              <a:rPr lang="de-DE" sz="1600" dirty="0"/>
              <a:t> </a:t>
            </a:r>
            <a:r>
              <a:rPr lang="de-DE" sz="1600" dirty="0" err="1"/>
              <a:t>more</a:t>
            </a:r>
            <a:r>
              <a:rPr lang="de-DE" sz="1600" dirty="0"/>
              <a:t> </a:t>
            </a:r>
            <a:r>
              <a:rPr lang="de-DE" sz="1600" dirty="0" err="1"/>
              <a:t>popularity</a:t>
            </a:r>
            <a:r>
              <a:rPr lang="de-DE" sz="1600" dirty="0"/>
              <a:t> </a:t>
            </a:r>
            <a:r>
              <a:rPr lang="de-DE" sz="1600" dirty="0" err="1"/>
              <a:t>over</a:t>
            </a:r>
            <a:r>
              <a:rPr lang="de-DE" sz="1600" dirty="0"/>
              <a:t> time?</a:t>
            </a:r>
            <a:endParaRPr lang="en-DE" sz="1600" dirty="0"/>
          </a:p>
          <a:p>
            <a:pPr marL="0" indent="0">
              <a:buNone/>
            </a:pPr>
            <a:r>
              <a:rPr lang="de-DE" sz="1600" dirty="0"/>
              <a:t>6. Do </a:t>
            </a:r>
            <a:r>
              <a:rPr lang="de-DE" sz="1600" dirty="0" err="1"/>
              <a:t>critics</a:t>
            </a:r>
            <a:r>
              <a:rPr lang="de-DE" sz="1600" dirty="0"/>
              <a:t> </a:t>
            </a:r>
            <a:r>
              <a:rPr lang="de-DE" sz="1600" dirty="0" err="1"/>
              <a:t>reviews</a:t>
            </a:r>
            <a:r>
              <a:rPr lang="de-DE" sz="1600" dirty="0"/>
              <a:t> </a:t>
            </a:r>
            <a:r>
              <a:rPr lang="de-DE" sz="1600" dirty="0" err="1"/>
              <a:t>influence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opinion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users</a:t>
            </a:r>
            <a:r>
              <a:rPr lang="de-DE" sz="1600" dirty="0"/>
              <a:t>?</a:t>
            </a:r>
            <a:endParaRPr lang="en-DE" sz="1600" dirty="0"/>
          </a:p>
          <a:p>
            <a:pPr marL="0" indent="0">
              <a:buNone/>
            </a:pPr>
            <a:r>
              <a:rPr lang="de-DE" sz="1600" dirty="0"/>
              <a:t>7. Do </a:t>
            </a:r>
            <a:r>
              <a:rPr lang="de-DE" sz="1600" dirty="0" err="1"/>
              <a:t>long</a:t>
            </a:r>
            <a:r>
              <a:rPr lang="de-DE" sz="1600" dirty="0"/>
              <a:t> </a:t>
            </a:r>
            <a:r>
              <a:rPr lang="de-DE" sz="1600" dirty="0" err="1"/>
              <a:t>releases</a:t>
            </a:r>
            <a:r>
              <a:rPr lang="de-DE" sz="1600" dirty="0"/>
              <a:t> </a:t>
            </a:r>
            <a:r>
              <a:rPr lang="de-DE" sz="1600" dirty="0" err="1"/>
              <a:t>between</a:t>
            </a:r>
            <a:r>
              <a:rPr lang="de-DE" sz="1600" dirty="0"/>
              <a:t> </a:t>
            </a:r>
            <a:r>
              <a:rPr lang="de-DE" sz="1600" dirty="0" err="1"/>
              <a:t>season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a </a:t>
            </a:r>
            <a:r>
              <a:rPr lang="de-DE" sz="1600" dirty="0" err="1"/>
              <a:t>show</a:t>
            </a:r>
            <a:r>
              <a:rPr lang="de-DE" sz="1600" dirty="0"/>
              <a:t> </a:t>
            </a:r>
            <a:r>
              <a:rPr lang="de-DE" sz="1600" dirty="0" err="1"/>
              <a:t>cause</a:t>
            </a:r>
            <a:r>
              <a:rPr lang="de-DE" sz="1600" dirty="0"/>
              <a:t> </a:t>
            </a:r>
            <a:r>
              <a:rPr lang="de-DE" sz="1600" dirty="0" err="1"/>
              <a:t>users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drop</a:t>
            </a:r>
            <a:r>
              <a:rPr lang="de-DE" sz="1600" dirty="0"/>
              <a:t> </a:t>
            </a:r>
            <a:r>
              <a:rPr lang="de-DE" sz="1600" dirty="0" err="1"/>
              <a:t>interest</a:t>
            </a:r>
            <a:r>
              <a:rPr lang="de-DE" sz="1600" dirty="0"/>
              <a:t> in </a:t>
            </a:r>
            <a:r>
              <a:rPr lang="de-DE" sz="1600" dirty="0" err="1"/>
              <a:t>them</a:t>
            </a:r>
            <a:r>
              <a:rPr lang="de-DE" sz="1600" dirty="0"/>
              <a:t>?</a:t>
            </a:r>
            <a:endParaRPr lang="en-DE" sz="1600" dirty="0"/>
          </a:p>
          <a:p>
            <a:pPr marL="0" lvl="0" indent="0">
              <a:buNone/>
            </a:pPr>
            <a:r>
              <a:rPr lang="de-DE" sz="1600" b="1" dirty="0"/>
              <a:t>8. </a:t>
            </a:r>
            <a:r>
              <a:rPr lang="de-DE" sz="1600" b="1" dirty="0" err="1"/>
              <a:t>Does</a:t>
            </a:r>
            <a:r>
              <a:rPr lang="de-DE" sz="1600" b="1" dirty="0"/>
              <a:t> </a:t>
            </a:r>
            <a:r>
              <a:rPr lang="de-DE" sz="1600" b="1" dirty="0" err="1"/>
              <a:t>excitement</a:t>
            </a:r>
            <a:r>
              <a:rPr lang="de-DE" sz="1600" b="1" dirty="0"/>
              <a:t> online </a:t>
            </a:r>
            <a:r>
              <a:rPr lang="de-DE" sz="1600" b="1" dirty="0" err="1"/>
              <a:t>before</a:t>
            </a:r>
            <a:r>
              <a:rPr lang="de-DE" sz="1600" b="1" dirty="0"/>
              <a:t> a release </a:t>
            </a:r>
            <a:r>
              <a:rPr lang="de-DE" sz="1600" b="1" dirty="0" err="1"/>
              <a:t>influence</a:t>
            </a:r>
            <a:r>
              <a:rPr lang="de-DE" sz="1600" b="1" dirty="0"/>
              <a:t> </a:t>
            </a:r>
            <a:r>
              <a:rPr lang="de-DE" sz="1600" b="1" dirty="0" err="1"/>
              <a:t>the</a:t>
            </a:r>
            <a:r>
              <a:rPr lang="de-DE" sz="1600" b="1" dirty="0"/>
              <a:t> </a:t>
            </a:r>
            <a:r>
              <a:rPr lang="de-DE" sz="1600" b="1" dirty="0" err="1"/>
              <a:t>success</a:t>
            </a:r>
            <a:r>
              <a:rPr lang="de-DE" sz="1600" b="1" dirty="0"/>
              <a:t> </a:t>
            </a:r>
            <a:r>
              <a:rPr lang="de-DE" sz="1600" b="1" dirty="0" err="1"/>
              <a:t>of</a:t>
            </a:r>
            <a:r>
              <a:rPr lang="de-DE" sz="1600" b="1" dirty="0"/>
              <a:t> a </a:t>
            </a:r>
            <a:r>
              <a:rPr lang="de-DE" sz="1600" b="1" dirty="0" err="1"/>
              <a:t>show</a:t>
            </a:r>
            <a:r>
              <a:rPr lang="de-DE" sz="1600" b="1" dirty="0"/>
              <a:t>?</a:t>
            </a:r>
            <a:endParaRPr lang="en-DE" sz="1600" b="1" dirty="0"/>
          </a:p>
          <a:p>
            <a:pPr marL="0" lvl="0" indent="0">
              <a:buNone/>
            </a:pPr>
            <a:r>
              <a:rPr lang="de-DE" sz="1600" dirty="0"/>
              <a:t>9. </a:t>
            </a:r>
            <a:r>
              <a:rPr lang="de-DE" sz="1600" dirty="0" err="1"/>
              <a:t>Does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general</a:t>
            </a:r>
            <a:r>
              <a:rPr lang="de-DE" sz="1600" dirty="0"/>
              <a:t> </a:t>
            </a:r>
            <a:r>
              <a:rPr lang="de-DE" sz="1600" dirty="0" err="1"/>
              <a:t>opinion</a:t>
            </a:r>
            <a:r>
              <a:rPr lang="de-DE" sz="1600" dirty="0"/>
              <a:t> </a:t>
            </a:r>
            <a:r>
              <a:rPr lang="de-DE" sz="1600" dirty="0" err="1"/>
              <a:t>you</a:t>
            </a:r>
            <a:r>
              <a:rPr lang="de-DE" sz="1600" dirty="0"/>
              <a:t> </a:t>
            </a:r>
            <a:r>
              <a:rPr lang="de-DE" sz="1600" dirty="0" err="1"/>
              <a:t>see</a:t>
            </a:r>
            <a:r>
              <a:rPr lang="de-DE" sz="1600" dirty="0"/>
              <a:t> on social </a:t>
            </a:r>
            <a:r>
              <a:rPr lang="de-DE" sz="1600" dirty="0" err="1"/>
              <a:t>media</a:t>
            </a:r>
            <a:r>
              <a:rPr lang="de-DE" sz="1600" dirty="0"/>
              <a:t> </a:t>
            </a:r>
            <a:r>
              <a:rPr lang="de-DE" sz="1600" dirty="0" err="1"/>
              <a:t>influence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success</a:t>
            </a:r>
            <a:r>
              <a:rPr lang="de-DE" sz="1600" dirty="0"/>
              <a:t>? (</a:t>
            </a:r>
            <a:r>
              <a:rPr lang="de-DE" sz="1600" dirty="0" err="1"/>
              <a:t>is</a:t>
            </a:r>
            <a:r>
              <a:rPr lang="de-DE" sz="1600" dirty="0"/>
              <a:t> social </a:t>
            </a:r>
            <a:r>
              <a:rPr lang="de-DE" sz="1600" dirty="0" err="1"/>
              <a:t>media</a:t>
            </a:r>
            <a:r>
              <a:rPr lang="de-DE" sz="1600" dirty="0"/>
              <a:t> a </a:t>
            </a:r>
            <a:r>
              <a:rPr lang="de-DE" sz="1600" dirty="0" err="1"/>
              <a:t>bubble</a:t>
            </a:r>
            <a:r>
              <a:rPr lang="de-DE" sz="1600" dirty="0"/>
              <a:t>)</a:t>
            </a:r>
            <a:endParaRPr lang="en-DE" sz="1600" dirty="0"/>
          </a:p>
          <a:p>
            <a:endParaRPr lang="en-DE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DEF1-B0B2-8A89-DEDA-0B5A5BE6A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42B-5BBF-2618-EB96-E3FFB1C0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dirty="0"/>
              <a:t>Movies - Measurement criteria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06F918-9F3D-65E9-5302-A6EF42332D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/>
          <a:p>
            <a:pPr lvl="0"/>
            <a:r>
              <a:rPr lang="de-DE" sz="1600" dirty="0"/>
              <a:t>User Ratings</a:t>
            </a:r>
            <a:endParaRPr lang="en-DE" sz="1600" dirty="0"/>
          </a:p>
          <a:p>
            <a:pPr lvl="0"/>
            <a:r>
              <a:rPr lang="de-DE" sz="1600" dirty="0"/>
              <a:t>Release timing</a:t>
            </a:r>
            <a:endParaRPr lang="en-DE" sz="1600" dirty="0"/>
          </a:p>
          <a:p>
            <a:pPr lvl="0"/>
            <a:r>
              <a:rPr lang="de-DE" sz="1600" dirty="0"/>
              <a:t>Wikimedia views</a:t>
            </a:r>
            <a:endParaRPr lang="en-DE" sz="1600" dirty="0"/>
          </a:p>
          <a:p>
            <a:pPr lvl="0"/>
            <a:r>
              <a:rPr lang="de-DE" sz="1600" dirty="0"/>
              <a:t>Budget</a:t>
            </a:r>
            <a:endParaRPr lang="en-DE" sz="1600" dirty="0"/>
          </a:p>
          <a:p>
            <a:pPr lvl="0"/>
            <a:r>
              <a:rPr lang="de-DE" sz="1600" dirty="0"/>
              <a:t>Profit</a:t>
            </a:r>
            <a:endParaRPr lang="en-DE" sz="1600" dirty="0"/>
          </a:p>
          <a:p>
            <a:pPr lvl="0"/>
            <a:r>
              <a:rPr lang="de-DE" sz="1600" dirty="0"/>
              <a:t>Youtube view counts</a:t>
            </a:r>
            <a:endParaRPr lang="en-DE" sz="1600" dirty="0"/>
          </a:p>
          <a:p>
            <a:pPr lvl="0"/>
            <a:r>
              <a:rPr lang="de-DE" sz="1600" dirty="0"/>
              <a:t>Google search request amounts</a:t>
            </a:r>
            <a:endParaRPr lang="en-DE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7E6A2-B2C9-55AB-E7D0-56110A8BD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88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84A1D-560C-C239-8F10-F247DDB2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A690-BC3C-6848-8977-92451B9F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dirty="0"/>
              <a:t>Movies - APIs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1777FC7-8F96-5BF0-C016-124249732B9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/>
          <a:p>
            <a:r>
              <a:rPr lang="de-DE" sz="1600" dirty="0"/>
              <a:t>Open movie database (OMDb)</a:t>
            </a:r>
            <a:endParaRPr lang="en-DE" sz="1600" dirty="0"/>
          </a:p>
          <a:p>
            <a:r>
              <a:rPr lang="de-DE" sz="1600" dirty="0"/>
              <a:t>Wikimedia API</a:t>
            </a:r>
            <a:endParaRPr lang="en-DE" sz="1600" dirty="0"/>
          </a:p>
          <a:p>
            <a:r>
              <a:rPr lang="de-DE" sz="1600" dirty="0" err="1"/>
              <a:t>Youtube</a:t>
            </a:r>
            <a:r>
              <a:rPr lang="de-DE" sz="1600" dirty="0"/>
              <a:t> Data API</a:t>
            </a:r>
          </a:p>
          <a:p>
            <a:r>
              <a:rPr lang="de-DE" sz="1600" dirty="0"/>
              <a:t>Google Analytics API</a:t>
            </a:r>
            <a:endParaRPr lang="en-DE" sz="1600" dirty="0"/>
          </a:p>
          <a:p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ACBE2-0C1D-1832-B350-ADA804DBB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6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42E0-D964-B6C3-AF9A-F5B8D539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CCE5-F289-B0C4-A7A9-E077B628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0640"/>
            <a:ext cx="5181600" cy="3368819"/>
          </a:xfrm>
        </p:spPr>
        <p:txBody>
          <a:bodyPr/>
          <a:lstStyle/>
          <a:p>
            <a:r>
              <a:rPr lang="en-US" dirty="0"/>
              <a:t>Job Market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9D5643F-7075-BCB1-65F0-44E8A2D6AF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45302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FAFE4-B449-FEB6-5A12-45203903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E2B8B-E3F1-6A25-214B-36E1C2648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dirty="0"/>
              <a:t>Job Market - questions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263E7F8-2B14-F5F3-F69A-C21A10FB59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e-DE" altLang="de-DE" sz="1600" dirty="0" err="1"/>
              <a:t>What</a:t>
            </a:r>
            <a:r>
              <a:rPr lang="de-DE" altLang="de-DE" sz="1600" dirty="0"/>
              <a:t> </a:t>
            </a:r>
            <a:r>
              <a:rPr lang="de-DE" altLang="de-DE" sz="1600" dirty="0" err="1"/>
              <a:t>Occupational</a:t>
            </a:r>
            <a:r>
              <a:rPr lang="de-DE" altLang="de-DE" sz="1600" dirty="0"/>
              <a:t> </a:t>
            </a:r>
            <a:r>
              <a:rPr lang="de-DE" altLang="de-DE" sz="1600" dirty="0" err="1"/>
              <a:t>bottlenecks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across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the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regions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of</a:t>
            </a:r>
            <a:r>
              <a:rPr lang="de-DE" altLang="de-DE" sz="1600" dirty="0"/>
              <a:t> Schleswig-Holstein</a:t>
            </a:r>
          </a:p>
          <a:p>
            <a:pPr marL="342900" lvl="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e-DE" altLang="de-DE" sz="1600" b="1" dirty="0"/>
              <a:t>How </a:t>
            </a:r>
            <a:r>
              <a:rPr lang="de-DE" altLang="de-DE" sz="1600" b="1" dirty="0" err="1"/>
              <a:t>does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increasing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the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search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radius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change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the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number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of</a:t>
            </a:r>
            <a:r>
              <a:rPr lang="de-DE" altLang="de-DE" sz="1600" b="1" dirty="0"/>
              <a:t> “</a:t>
            </a:r>
            <a:r>
              <a:rPr lang="de-DE" altLang="de-DE" sz="1600" b="1" dirty="0" err="1"/>
              <a:t>reachable</a:t>
            </a:r>
            <a:r>
              <a:rPr lang="de-DE" altLang="de-DE" sz="1600" b="1" dirty="0"/>
              <a:t>” </a:t>
            </a:r>
            <a:r>
              <a:rPr lang="de-DE" altLang="de-DE" sz="1600" b="1" dirty="0" err="1"/>
              <a:t>jobs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vs</a:t>
            </a:r>
            <a:r>
              <a:rPr lang="de-DE" altLang="de-DE" sz="1600" b="1" dirty="0"/>
              <a:t> . </a:t>
            </a:r>
            <a:r>
              <a:rPr lang="de-DE" altLang="de-DE" sz="1600" b="1" dirty="0" err="1"/>
              <a:t>candidates</a:t>
            </a:r>
            <a:r>
              <a:rPr lang="de-DE" altLang="de-DE" sz="1600" b="1" dirty="0"/>
              <a:t> vs. </a:t>
            </a:r>
            <a:r>
              <a:rPr lang="de-DE" altLang="de-DE" sz="1600" b="1" dirty="0" err="1"/>
              <a:t>training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places</a:t>
            </a:r>
            <a:r>
              <a:rPr lang="de-DE" altLang="de-DE" sz="1600" b="1" dirty="0"/>
              <a:t>?</a:t>
            </a:r>
          </a:p>
          <a:p>
            <a:pPr marL="342900" lvl="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e-DE" altLang="de-DE" sz="1600" dirty="0"/>
              <a:t>Do </a:t>
            </a:r>
            <a:r>
              <a:rPr lang="de-DE" altLang="de-DE" sz="1600" dirty="0" err="1"/>
              <a:t>training</a:t>
            </a:r>
            <a:r>
              <a:rPr lang="de-DE" altLang="de-DE" sz="1600" dirty="0"/>
              <a:t> </a:t>
            </a:r>
            <a:r>
              <a:rPr lang="de-DE" altLang="de-DE" sz="1600" dirty="0" err="1"/>
              <a:t>offerings</a:t>
            </a:r>
            <a:r>
              <a:rPr lang="de-DE" altLang="de-DE" sz="1600" dirty="0"/>
              <a:t> in a </a:t>
            </a:r>
            <a:r>
              <a:rPr lang="de-DE" altLang="de-DE" sz="1600" dirty="0" err="1"/>
              <a:t>region</a:t>
            </a:r>
            <a:r>
              <a:rPr lang="de-DE" altLang="de-DE" sz="1600" dirty="0"/>
              <a:t> </a:t>
            </a:r>
            <a:r>
              <a:rPr lang="de-DE" altLang="de-DE" sz="1600" dirty="0" err="1"/>
              <a:t>cover</a:t>
            </a:r>
            <a:r>
              <a:rPr lang="de-DE" altLang="de-DE" sz="1600" dirty="0"/>
              <a:t> medium- </a:t>
            </a:r>
            <a:r>
              <a:rPr lang="de-DE" altLang="de-DE" sz="1600" dirty="0" err="1"/>
              <a:t>to</a:t>
            </a:r>
            <a:r>
              <a:rPr lang="de-DE" altLang="de-DE" sz="1600" dirty="0"/>
              <a:t> </a:t>
            </a:r>
            <a:r>
              <a:rPr lang="de-DE" altLang="de-DE" sz="1600" dirty="0" err="1"/>
              <a:t>long</a:t>
            </a:r>
            <a:r>
              <a:rPr lang="de-DE" altLang="de-DE" sz="1600" dirty="0"/>
              <a:t>-term </a:t>
            </a:r>
            <a:r>
              <a:rPr lang="de-DE" altLang="de-DE" sz="1600" dirty="0" err="1"/>
              <a:t>job</a:t>
            </a:r>
            <a:r>
              <a:rPr lang="de-DE" altLang="de-DE" sz="1600" dirty="0"/>
              <a:t> </a:t>
            </a:r>
            <a:r>
              <a:rPr lang="de-DE" altLang="de-DE" sz="1600" dirty="0" err="1"/>
              <a:t>demand</a:t>
            </a:r>
            <a:r>
              <a:rPr lang="de-DE" altLang="de-DE" sz="1600" dirty="0"/>
              <a:t>, and </a:t>
            </a:r>
            <a:r>
              <a:rPr lang="de-DE" altLang="de-DE" sz="1600" dirty="0" err="1"/>
              <a:t>is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there</a:t>
            </a:r>
            <a:r>
              <a:rPr lang="de-DE" altLang="de-DE" sz="1600" dirty="0"/>
              <a:t> a </a:t>
            </a:r>
            <a:r>
              <a:rPr lang="de-DE" altLang="de-DE" sz="1600" dirty="0" err="1"/>
              <a:t>sufficient</a:t>
            </a:r>
            <a:r>
              <a:rPr lang="de-DE" altLang="de-DE" sz="1600" dirty="0"/>
              <a:t> </a:t>
            </a:r>
            <a:r>
              <a:rPr lang="de-DE" altLang="de-DE" sz="1600" dirty="0" err="1"/>
              <a:t>candidate</a:t>
            </a:r>
            <a:r>
              <a:rPr lang="de-DE" altLang="de-DE" sz="1600" dirty="0"/>
              <a:t> pool?</a:t>
            </a:r>
          </a:p>
          <a:p>
            <a:pPr marL="342900" lvl="0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de-DE" altLang="de-DE" sz="1600" dirty="0"/>
              <a:t>Are </a:t>
            </a:r>
            <a:r>
              <a:rPr lang="de-DE" altLang="de-DE" sz="1600" dirty="0" err="1"/>
              <a:t>there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occupations</a:t>
            </a:r>
            <a:r>
              <a:rPr lang="de-DE" altLang="de-DE" sz="1600" dirty="0"/>
              <a:t>/</a:t>
            </a:r>
            <a:r>
              <a:rPr lang="de-DE" altLang="de-DE" sz="1600" dirty="0" err="1"/>
              <a:t>regions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where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training</a:t>
            </a:r>
            <a:r>
              <a:rPr lang="de-DE" altLang="de-DE" sz="1600" dirty="0"/>
              <a:t> </a:t>
            </a:r>
            <a:r>
              <a:rPr lang="de-DE" altLang="de-DE" sz="1600" dirty="0" err="1"/>
              <a:t>offers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are</a:t>
            </a:r>
            <a:r>
              <a:rPr lang="de-DE" altLang="de-DE" sz="1600" dirty="0"/>
              <a:t> abundant but </a:t>
            </a:r>
            <a:r>
              <a:rPr lang="de-DE" altLang="de-DE" sz="1600" dirty="0" err="1"/>
              <a:t>candidate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profiles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with</a:t>
            </a:r>
            <a:r>
              <a:rPr lang="de-DE" altLang="de-DE" sz="1600" dirty="0"/>
              <a:t> </a:t>
            </a:r>
            <a:r>
              <a:rPr lang="de-DE" altLang="de-DE" sz="1600" dirty="0" err="1"/>
              <a:t>specific</a:t>
            </a:r>
            <a:r>
              <a:rPr lang="de-DE" altLang="de-DE" sz="1600" dirty="0"/>
              <a:t> </a:t>
            </a:r>
            <a:r>
              <a:rPr lang="de-DE" altLang="de-DE" sz="1600" dirty="0" err="1"/>
              <a:t>attributes</a:t>
            </a:r>
            <a:r>
              <a:rPr lang="de-DE" altLang="de-DE" sz="1600" dirty="0"/>
              <a:t> (e.g., school-</a:t>
            </a:r>
            <a:r>
              <a:rPr lang="de-DE" altLang="de-DE" sz="1600" dirty="0" err="1"/>
              <a:t>leaving</a:t>
            </a:r>
            <a:r>
              <a:rPr lang="de-DE" altLang="de-DE" sz="1600" dirty="0"/>
              <a:t> </a:t>
            </a:r>
            <a:r>
              <a:rPr lang="de-DE" altLang="de-DE" sz="1600" dirty="0" err="1"/>
              <a:t>qualifications</a:t>
            </a:r>
            <a:r>
              <a:rPr lang="de-DE" altLang="de-DE" sz="1600" dirty="0"/>
              <a:t>) </a:t>
            </a:r>
            <a:r>
              <a:rPr lang="de-DE" altLang="de-DE" sz="1600" dirty="0" err="1"/>
              <a:t>are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scarce</a:t>
            </a:r>
            <a:r>
              <a:rPr lang="de-DE" altLang="de-DE" sz="1600" dirty="0"/>
              <a:t>?</a:t>
            </a:r>
          </a:p>
          <a:p>
            <a:endParaRPr lang="en-DE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B11DD-7668-511A-F4CD-66717D9B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7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251D-3D21-B9CB-2CE3-C04E559A4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F590-E615-5199-FECF-49AC6C9B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dirty="0"/>
              <a:t>Job Market - questions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662606-3081-5A3E-ED4D-0DB240149F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de-DE" altLang="de-DE" sz="1600" b="1" dirty="0" err="1"/>
              <a:t>What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is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the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distribution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of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qualifications</a:t>
            </a:r>
            <a:r>
              <a:rPr lang="de-DE" altLang="de-DE" sz="1600" b="1" dirty="0"/>
              <a:t>/</a:t>
            </a:r>
            <a:r>
              <a:rPr lang="de-DE" altLang="de-DE" sz="1600" b="1" dirty="0" err="1"/>
              <a:t>educational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degrees</a:t>
            </a:r>
            <a:r>
              <a:rPr lang="de-DE" altLang="de-DE" sz="1600" b="1" dirty="0"/>
              <a:t>/</a:t>
            </a:r>
            <a:r>
              <a:rPr lang="de-DE" altLang="de-DE" sz="1600" b="1" dirty="0" err="1"/>
              <a:t>skills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by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region</a:t>
            </a:r>
            <a:r>
              <a:rPr lang="de-DE" altLang="de-DE" sz="1600" b="1" dirty="0"/>
              <a:t> and </a:t>
            </a:r>
            <a:r>
              <a:rPr lang="de-DE" altLang="de-DE" sz="1600" b="1" dirty="0" err="1"/>
              <a:t>occupational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field</a:t>
            </a:r>
            <a:r>
              <a:rPr lang="de-DE" altLang="de-DE" sz="1600" b="1" dirty="0"/>
              <a:t>?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de-DE" altLang="de-DE" sz="1600" b="1" dirty="0"/>
              <a:t>How </a:t>
            </a:r>
            <a:r>
              <a:rPr lang="de-DE" altLang="de-DE" sz="1600" b="1" dirty="0" err="1"/>
              <a:t>many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entry</a:t>
            </a:r>
            <a:r>
              <a:rPr lang="de-DE" altLang="de-DE" sz="1600" b="1" dirty="0"/>
              <a:t>-level vs. </a:t>
            </a:r>
            <a:r>
              <a:rPr lang="de-DE" altLang="de-DE" sz="1600" b="1" dirty="0" err="1"/>
              <a:t>senior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roles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are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advertised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within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occupational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field</a:t>
            </a:r>
            <a:r>
              <a:rPr lang="de-DE" altLang="de-DE" sz="1600" b="1" dirty="0"/>
              <a:t> Y, and </a:t>
            </a:r>
            <a:r>
              <a:rPr lang="de-DE" altLang="de-DE" sz="1600" b="1" dirty="0" err="1"/>
              <a:t>which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regions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offer</a:t>
            </a:r>
            <a:r>
              <a:rPr lang="de-DE" altLang="de-DE" sz="1600" b="1" dirty="0"/>
              <a:t> an </a:t>
            </a:r>
            <a:r>
              <a:rPr lang="de-DE" altLang="de-DE" sz="1600" b="1" dirty="0" err="1"/>
              <a:t>above-average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number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of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entry</a:t>
            </a:r>
            <a:r>
              <a:rPr lang="de-DE" altLang="de-DE" sz="1600" b="1" dirty="0"/>
              <a:t> </a:t>
            </a:r>
            <a:r>
              <a:rPr lang="de-DE" altLang="de-DE" sz="1600" b="1" dirty="0" err="1"/>
              <a:t>opportunities</a:t>
            </a:r>
            <a:r>
              <a:rPr lang="de-DE" altLang="de-DE" sz="1600" b="1" dirty="0"/>
              <a:t>?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de-DE" altLang="de-DE" sz="1600" dirty="0"/>
              <a:t> </a:t>
            </a:r>
            <a:r>
              <a:rPr lang="de-DE" altLang="de-DE" sz="1600" dirty="0" err="1"/>
              <a:t>Which</a:t>
            </a:r>
            <a:r>
              <a:rPr lang="de-DE" altLang="de-DE" sz="1600" dirty="0"/>
              <a:t> top </a:t>
            </a:r>
            <a:r>
              <a:rPr lang="de-DE" altLang="de-DE" sz="1600" dirty="0" err="1"/>
              <a:t>five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occupations</a:t>
            </a:r>
            <a:r>
              <a:rPr lang="de-DE" altLang="de-DE" sz="1600" dirty="0"/>
              <a:t> in and </a:t>
            </a:r>
            <a:r>
              <a:rPr lang="de-DE" altLang="de-DE" sz="1600" dirty="0" err="1"/>
              <a:t>around</a:t>
            </a:r>
            <a:r>
              <a:rPr lang="de-DE" altLang="de-DE" sz="1600" dirty="0"/>
              <a:t> Kiel </a:t>
            </a:r>
            <a:r>
              <a:rPr lang="de-DE" altLang="de-DE" sz="1600" dirty="0" err="1"/>
              <a:t>show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the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largest</a:t>
            </a:r>
            <a:r>
              <a:rPr lang="de-DE" altLang="de-DE" sz="1600" dirty="0"/>
              <a:t> </a:t>
            </a:r>
            <a:r>
              <a:rPr lang="de-DE" altLang="de-DE" sz="1600" dirty="0" err="1"/>
              <a:t>mismatch</a:t>
            </a:r>
            <a:r>
              <a:rPr lang="de-DE" altLang="de-DE" sz="1600" dirty="0"/>
              <a:t> (</a:t>
            </a:r>
            <a:r>
              <a:rPr lang="de-DE" altLang="de-DE" sz="1600" dirty="0" err="1"/>
              <a:t>many</a:t>
            </a:r>
            <a:r>
              <a:rPr lang="de-DE" altLang="de-DE" sz="1600" dirty="0"/>
              <a:t> </a:t>
            </a:r>
            <a:r>
              <a:rPr lang="de-DE" altLang="de-DE" sz="1600" dirty="0" err="1"/>
              <a:t>jobs</a:t>
            </a:r>
            <a:r>
              <a:rPr lang="de-DE" altLang="de-DE" sz="1600" dirty="0"/>
              <a:t>, </a:t>
            </a:r>
            <a:r>
              <a:rPr lang="de-DE" altLang="de-DE" sz="1600" dirty="0" err="1"/>
              <a:t>few</a:t>
            </a:r>
            <a:r>
              <a:rPr lang="de-DE" altLang="de-DE" sz="1600" dirty="0"/>
              <a:t> </a:t>
            </a:r>
            <a:r>
              <a:rPr lang="de-DE" altLang="de-DE" sz="1600" dirty="0" err="1"/>
              <a:t>candidates</a:t>
            </a:r>
            <a:r>
              <a:rPr lang="de-DE" altLang="de-DE" sz="1600" dirty="0"/>
              <a:t>) — and </a:t>
            </a:r>
            <a:r>
              <a:rPr lang="de-DE" altLang="de-DE" sz="1600" dirty="0" err="1"/>
              <a:t>are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there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sufficient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training</a:t>
            </a:r>
            <a:r>
              <a:rPr lang="de-DE" altLang="de-DE" sz="1600" dirty="0"/>
              <a:t> </a:t>
            </a:r>
            <a:r>
              <a:rPr lang="de-DE" altLang="de-DE" sz="1600" dirty="0" err="1"/>
              <a:t>places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available</a:t>
            </a:r>
            <a:r>
              <a:rPr lang="de-DE" altLang="de-DE" sz="1600" dirty="0"/>
              <a:t>?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de-DE" altLang="de-DE" sz="1600" dirty="0" err="1"/>
              <a:t>Which</a:t>
            </a:r>
            <a:r>
              <a:rPr lang="de-DE" altLang="de-DE" sz="1600" dirty="0"/>
              <a:t> soft </a:t>
            </a:r>
            <a:r>
              <a:rPr lang="de-DE" altLang="de-DE" sz="1600" dirty="0" err="1"/>
              <a:t>skills</a:t>
            </a:r>
            <a:r>
              <a:rPr lang="de-DE" altLang="de-DE" sz="1600" dirty="0"/>
              <a:t> vs. </a:t>
            </a:r>
            <a:r>
              <a:rPr lang="de-DE" altLang="de-DE" sz="1600" dirty="0" err="1"/>
              <a:t>hard</a:t>
            </a:r>
            <a:r>
              <a:rPr lang="de-DE" altLang="de-DE" sz="1600" dirty="0"/>
              <a:t> </a:t>
            </a:r>
            <a:r>
              <a:rPr lang="de-DE" altLang="de-DE" sz="1600" dirty="0" err="1"/>
              <a:t>skills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are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most</a:t>
            </a:r>
            <a:r>
              <a:rPr lang="de-DE" altLang="de-DE" sz="1600" dirty="0"/>
              <a:t> </a:t>
            </a:r>
            <a:r>
              <a:rPr lang="de-DE" altLang="de-DE" sz="1600" dirty="0" err="1"/>
              <a:t>emphasized</a:t>
            </a:r>
            <a:r>
              <a:rPr lang="de-DE" altLang="de-DE" sz="1600" dirty="0"/>
              <a:t> in </a:t>
            </a:r>
            <a:r>
              <a:rPr lang="de-DE" altLang="de-DE" sz="1600" dirty="0" err="1"/>
              <a:t>jobs</a:t>
            </a:r>
            <a:r>
              <a:rPr lang="de-DE" altLang="de-DE" sz="1600" dirty="0"/>
              <a:t>, and </a:t>
            </a:r>
            <a:r>
              <a:rPr lang="de-DE" altLang="de-DE" sz="1600" dirty="0" err="1"/>
              <a:t>to</a:t>
            </a:r>
            <a:r>
              <a:rPr lang="de-DE" altLang="de-DE" sz="1600" dirty="0"/>
              <a:t> </a:t>
            </a:r>
            <a:r>
              <a:rPr lang="de-DE" altLang="de-DE" sz="1600" dirty="0" err="1"/>
              <a:t>what</a:t>
            </a:r>
            <a:r>
              <a:rPr lang="de-DE" altLang="de-DE" sz="1600" dirty="0"/>
              <a:t> </a:t>
            </a:r>
            <a:r>
              <a:rPr lang="de-DE" altLang="de-DE" sz="1600" dirty="0" err="1"/>
              <a:t>extent</a:t>
            </a:r>
            <a:r>
              <a:rPr lang="de-DE" altLang="de-DE" sz="1600" dirty="0"/>
              <a:t> do </a:t>
            </a:r>
            <a:r>
              <a:rPr lang="de-DE" altLang="de-DE" sz="1600" dirty="0" err="1"/>
              <a:t>training</a:t>
            </a:r>
            <a:r>
              <a:rPr lang="de-DE" altLang="de-DE" sz="1600" dirty="0"/>
              <a:t> </a:t>
            </a:r>
            <a:r>
              <a:rPr lang="de-DE" altLang="de-DE" sz="1600" dirty="0" err="1"/>
              <a:t>curricula</a:t>
            </a:r>
            <a:r>
              <a:rPr lang="de-DE" altLang="de-DE" sz="1600" dirty="0"/>
              <a:t> </a:t>
            </a:r>
            <a:r>
              <a:rPr lang="de-DE" altLang="de-DE" sz="1600" dirty="0" err="1"/>
              <a:t>address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these</a:t>
            </a:r>
            <a:r>
              <a:rPr lang="de-DE" altLang="de-DE" sz="1600" dirty="0"/>
              <a:t> soft-skill </a:t>
            </a:r>
            <a:r>
              <a:rPr lang="de-DE" altLang="de-DE" sz="1600" dirty="0" err="1"/>
              <a:t>components</a:t>
            </a:r>
            <a:r>
              <a:rPr lang="de-DE" altLang="de-DE" sz="1600" dirty="0"/>
              <a:t>?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de-DE" altLang="de-DE" sz="1600" dirty="0"/>
              <a:t> How do </a:t>
            </a:r>
            <a:r>
              <a:rPr lang="de-DE" altLang="de-DE" sz="1600" dirty="0" err="1"/>
              <a:t>qualification</a:t>
            </a:r>
            <a:r>
              <a:rPr lang="de-DE" altLang="de-DE" sz="1600" dirty="0"/>
              <a:t> </a:t>
            </a:r>
            <a:r>
              <a:rPr lang="de-DE" altLang="de-DE" sz="1600" dirty="0" err="1"/>
              <a:t>profiles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of</a:t>
            </a:r>
            <a:r>
              <a:rPr lang="de-DE" altLang="de-DE" sz="1600" dirty="0"/>
              <a:t> </a:t>
            </a:r>
            <a:r>
              <a:rPr lang="de-DE" altLang="de-DE" sz="1600" dirty="0" err="1"/>
              <a:t>candidates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with</a:t>
            </a:r>
            <a:r>
              <a:rPr lang="de-DE" altLang="de-DE" sz="1600" dirty="0"/>
              <a:t> </a:t>
            </a:r>
            <a:r>
              <a:rPr lang="de-DE" altLang="de-DE" sz="1600" dirty="0" err="1"/>
              <a:t>completed</a:t>
            </a:r>
            <a:r>
              <a:rPr lang="de-DE" altLang="de-DE" sz="1600" dirty="0"/>
              <a:t>, relevant </a:t>
            </a:r>
            <a:r>
              <a:rPr lang="de-DE" altLang="de-DE" sz="1600" dirty="0" err="1"/>
              <a:t>vocational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training</a:t>
            </a:r>
            <a:r>
              <a:rPr lang="de-DE" altLang="de-DE" sz="1600" dirty="0"/>
              <a:t> </a:t>
            </a:r>
            <a:r>
              <a:rPr lang="de-DE" altLang="de-DE" sz="1600" dirty="0" err="1"/>
              <a:t>differ</a:t>
            </a:r>
            <a:r>
              <a:rPr lang="de-DE" altLang="de-DE" sz="1600" dirty="0"/>
              <a:t> </a:t>
            </a:r>
            <a:r>
              <a:rPr lang="de-DE" altLang="de-DE" sz="1600" dirty="0" err="1"/>
              <a:t>from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those</a:t>
            </a:r>
            <a:r>
              <a:rPr lang="de-DE" altLang="de-DE" sz="1600" dirty="0"/>
              <a:t> </a:t>
            </a:r>
            <a:r>
              <a:rPr lang="de-DE" altLang="de-DE" sz="1600" dirty="0" err="1"/>
              <a:t>of</a:t>
            </a:r>
            <a:r>
              <a:rPr lang="de-DE" altLang="de-DE" sz="1600" dirty="0"/>
              <a:t> </a:t>
            </a:r>
            <a:r>
              <a:rPr lang="de-DE" altLang="de-DE" sz="1600" dirty="0" err="1"/>
              <a:t>career</a:t>
            </a:r>
            <a:r>
              <a:rPr lang="de-DE" altLang="de-DE" sz="1600" dirty="0"/>
              <a:t> </a:t>
            </a:r>
            <a:r>
              <a:rPr lang="de-DE" altLang="de-DE" sz="1600" dirty="0" err="1"/>
              <a:t>changers</a:t>
            </a:r>
            <a:r>
              <a:rPr lang="de-DE" altLang="de-DE" sz="1600" dirty="0"/>
              <a:t> </a:t>
            </a:r>
            <a:r>
              <a:rPr lang="de-DE" altLang="de-DE" sz="1600" dirty="0" err="1"/>
              <a:t>within</a:t>
            </a:r>
            <a:r>
              <a:rPr lang="de-DE" altLang="de-DE" sz="1600" dirty="0"/>
              <a:t> </a:t>
            </a:r>
            <a:r>
              <a:rPr lang="de-DE" altLang="de-DE" sz="1600" dirty="0" err="1"/>
              <a:t>the</a:t>
            </a:r>
            <a:r>
              <a:rPr lang="de-DE" altLang="de-DE" sz="1600" dirty="0"/>
              <a:t> same </a:t>
            </a:r>
            <a:r>
              <a:rPr lang="de-DE" altLang="de-DE" sz="1600" dirty="0" err="1"/>
              <a:t>job</a:t>
            </a:r>
            <a:r>
              <a:rPr lang="de-DE" altLang="de-DE" sz="1600" dirty="0"/>
              <a:t> </a:t>
            </a:r>
            <a:r>
              <a:rPr lang="de-DE" altLang="de-DE" sz="1600" dirty="0" err="1"/>
              <a:t>family</a:t>
            </a:r>
            <a:r>
              <a:rPr lang="de-DE" altLang="de-DE" sz="1600" dirty="0"/>
              <a:t>?</a:t>
            </a:r>
          </a:p>
          <a:p>
            <a:pPr marL="0" indent="0">
              <a:buNone/>
            </a:pPr>
            <a:endParaRPr lang="en-DE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2A175-6B45-4B38-7869-32BD7C7D0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42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EDC3-A0DF-5984-79AF-C7CF9F9A9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4A69-8943-FC37-79F6-454AEA70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Market </a:t>
            </a:r>
            <a:r>
              <a:rPr lang="en-US" sz="3200" dirty="0"/>
              <a:t>- API</a:t>
            </a:r>
            <a:r>
              <a:rPr lang="en-US" sz="2400" b="1" dirty="0"/>
              <a:t>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824AF-D113-4FE5-6FE9-1297CC689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5F884-FFAF-28B3-CD5E-F5668980E5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1800" b="1" dirty="0"/>
              <a:t>Available APIs (from https://bund.dev/apis)</a:t>
            </a:r>
          </a:p>
          <a:p>
            <a:r>
              <a:rPr lang="en-US" sz="1800" dirty="0"/>
              <a:t>Training search (</a:t>
            </a:r>
            <a:r>
              <a:rPr lang="en-US" sz="1800" dirty="0" err="1"/>
              <a:t>Ausbildungssuche</a:t>
            </a:r>
            <a:r>
              <a:rPr lang="en-US" sz="1800" dirty="0"/>
              <a:t>) API</a:t>
            </a:r>
          </a:p>
          <a:p>
            <a:r>
              <a:rPr lang="en-US" sz="1800" dirty="0"/>
              <a:t>Candidate search (</a:t>
            </a:r>
            <a:r>
              <a:rPr lang="en-US" sz="1800" dirty="0" err="1"/>
              <a:t>Bewerberbörse</a:t>
            </a:r>
            <a:r>
              <a:rPr lang="en-US" sz="1800" dirty="0"/>
              <a:t>) API</a:t>
            </a:r>
          </a:p>
          <a:p>
            <a:r>
              <a:rPr lang="en-US" sz="1800" dirty="0"/>
              <a:t>Job postings (</a:t>
            </a:r>
            <a:r>
              <a:rPr lang="en-US" sz="1800" dirty="0" err="1"/>
              <a:t>Jobsuche</a:t>
            </a:r>
            <a:r>
              <a:rPr lang="en-US" sz="1800" dirty="0"/>
              <a:t>) API</a:t>
            </a:r>
          </a:p>
          <a:p>
            <a:r>
              <a:rPr lang="en-US" sz="1800" dirty="0"/>
              <a:t>Remuneration Atlas (</a:t>
            </a:r>
            <a:r>
              <a:rPr lang="en-US" sz="1800" dirty="0" err="1"/>
              <a:t>Entgeltatlas</a:t>
            </a:r>
            <a:r>
              <a:rPr lang="en-US" sz="1800" dirty="0"/>
              <a:t>) API</a:t>
            </a:r>
          </a:p>
        </p:txBody>
      </p:sp>
    </p:spTree>
    <p:extLst>
      <p:ext uri="{BB962C8B-B14F-4D97-AF65-F5344CB8AC3E}">
        <p14:creationId xmlns:p14="http://schemas.microsoft.com/office/powerpoint/2010/main" val="1601689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5D842-8BA3-80FF-DFD6-A88604A9E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1503-C314-99F5-332E-7BB04651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en-US" dirty="0"/>
              <a:t>Job Market - Measurement criteria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156CB0-40F7-81F4-5C6F-239A082C17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/>
          <a:p>
            <a:pPr lvl="0"/>
            <a:r>
              <a:rPr lang="en-US" sz="1600" dirty="0"/>
              <a:t>Data on jobs </a:t>
            </a:r>
          </a:p>
          <a:p>
            <a:pPr lvl="0"/>
            <a:r>
              <a:rPr lang="en-US" sz="1600" dirty="0"/>
              <a:t>Candidates </a:t>
            </a:r>
          </a:p>
          <a:p>
            <a:pPr lvl="0"/>
            <a:r>
              <a:rPr lang="en-US" sz="1600" dirty="0"/>
              <a:t>Pay </a:t>
            </a:r>
          </a:p>
          <a:p>
            <a:pPr lvl="0"/>
            <a:r>
              <a:rPr lang="de-DE" sz="1600" dirty="0"/>
              <a:t>Release </a:t>
            </a:r>
            <a:r>
              <a:rPr lang="de-DE" sz="1600" dirty="0" err="1"/>
              <a:t>timing</a:t>
            </a:r>
            <a:endParaRPr lang="en-DE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8540C-6294-2309-DD85-3A930AA58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6BEEA36-10CF-6B59-4F24-2968DE863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165" y="2144918"/>
            <a:ext cx="4000847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75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1142</Words>
  <Application>Microsoft Office PowerPoint</Application>
  <PresentationFormat>Breitbild</PresentationFormat>
  <Paragraphs>120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Custom</vt:lpstr>
      <vt:lpstr>Data-Science-Project</vt:lpstr>
      <vt:lpstr>TOpics</vt:lpstr>
      <vt:lpstr>Air pollution</vt:lpstr>
      <vt:lpstr>Air Pollution - Questions </vt:lpstr>
      <vt:lpstr>Air Pollution - QUestions </vt:lpstr>
      <vt:lpstr>Air Pollution – Measurement criteria</vt:lpstr>
      <vt:lpstr>Air pollution - APIS </vt:lpstr>
      <vt:lpstr>Movies</vt:lpstr>
      <vt:lpstr>Movies - questions</vt:lpstr>
      <vt:lpstr>Movies - Measurement criteria </vt:lpstr>
      <vt:lpstr>Movies - APIs</vt:lpstr>
      <vt:lpstr>Job Market</vt:lpstr>
      <vt:lpstr>Job Market - questions</vt:lpstr>
      <vt:lpstr>Job Market - questions</vt:lpstr>
      <vt:lpstr>Job Market - APIS </vt:lpstr>
      <vt:lpstr>Job Market - Measurement criteria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 F</dc:creator>
  <cp:lastModifiedBy>Lasse Ehrhorn</cp:lastModifiedBy>
  <cp:revision>17</cp:revision>
  <dcterms:created xsi:type="dcterms:W3CDTF">2026-02-26T09:58:22Z</dcterms:created>
  <dcterms:modified xsi:type="dcterms:W3CDTF">2026-02-26T17:51:00Z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