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22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3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 showSpecialPlsOnTitleSld="0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</p:sldIdLst>
  <p:sldSz cy="5143500" cx="9144000"/>
  <p:notesSz cx="6858000" cy="9144000"/>
  <p:embeddedFontLst>
    <p:embeddedFont>
      <p:font typeface="Nunito"/>
      <p:regular r:id="rId29"/>
      <p:bold r:id="rId30"/>
      <p:italic r:id="rId31"/>
      <p:boldItalic r:id="rId32"/>
    </p:embeddedFont>
    <p:embeddedFont>
      <p:font typeface="Open Sans"/>
      <p:regular r:id="rId33"/>
      <p:bold r:id="rId34"/>
      <p:italic r:id="rId35"/>
      <p:boldItalic r:id="rId36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font" Target="fonts/Nunito-regular.fntdata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font" Target="fonts/Nunito-italic.fntdata"/><Relationship Id="rId30" Type="http://schemas.openxmlformats.org/officeDocument/2006/relationships/font" Target="fonts/Nunito-bold.fntdata"/><Relationship Id="rId11" Type="http://schemas.openxmlformats.org/officeDocument/2006/relationships/slide" Target="slides/slide6.xml"/><Relationship Id="rId33" Type="http://schemas.openxmlformats.org/officeDocument/2006/relationships/font" Target="fonts/OpenSans-regular.fntdata"/><Relationship Id="rId10" Type="http://schemas.openxmlformats.org/officeDocument/2006/relationships/slide" Target="slides/slide5.xml"/><Relationship Id="rId32" Type="http://schemas.openxmlformats.org/officeDocument/2006/relationships/font" Target="fonts/Nunito-boldItalic.fntdata"/><Relationship Id="rId13" Type="http://schemas.openxmlformats.org/officeDocument/2006/relationships/slide" Target="slides/slide8.xml"/><Relationship Id="rId35" Type="http://schemas.openxmlformats.org/officeDocument/2006/relationships/font" Target="fonts/OpenSans-italic.fntdata"/><Relationship Id="rId12" Type="http://schemas.openxmlformats.org/officeDocument/2006/relationships/slide" Target="slides/slide7.xml"/><Relationship Id="rId34" Type="http://schemas.openxmlformats.org/officeDocument/2006/relationships/font" Target="fonts/OpenSans-bold.fntdata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36" Type="http://schemas.openxmlformats.org/officeDocument/2006/relationships/font" Target="fonts/OpenSans-boldItalic.fntdata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6" name="Google Shape;126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g3d0d2987a8f_1_36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3" name="Google Shape;133;g3d0d2987a8f_1_36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g3d1120a9cab_4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0" name="Google Shape;140;g3d1120a9cab_4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g3d1120a9cab_0_6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6" name="Google Shape;146;g3d1120a9cab_0_6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g3d0d2987a8f_1_359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3" name="Google Shape;153;g3d0d2987a8f_1_359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g3d0d2987a8f_1_36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0" name="Google Shape;160;g3d0d2987a8f_1_36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g3d1120a9cab_0_5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7" name="Google Shape;167;g3d1120a9cab_0_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g3d0d2987a8f_1_36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3" name="Google Shape;173;g3d0d2987a8f_1_36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g3d1120a9cab_4_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0" name="Google Shape;180;g3d1120a9cab_4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g3d1120a9cab_0_6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7" name="Google Shape;187;g3d1120a9cab_0_6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g3d0d2987a8f_1_364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3" name="Google Shape;193;g3d0d2987a8f_1_36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g3d0d2987a8f_1_31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0" name="Google Shape;200;g3d0d2987a8f_1_31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g3d1120a9cab_16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6" name="Google Shape;206;g3d1120a9cab_16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de">
                <a:solidFill>
                  <a:schemeClr val="dk1"/>
                </a:solidFill>
              </a:rPr>
              <a:t>- over the last 10 years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de">
                <a:solidFill>
                  <a:schemeClr val="dk1"/>
                </a:solidFill>
              </a:rPr>
              <a:t>You can see the regression lines and also the values of the slopes, so it is clear that they are declining.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de">
                <a:solidFill>
                  <a:schemeClr val="dk1"/>
                </a:solidFill>
              </a:rPr>
              <a:t> </a:t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de">
                <a:solidFill>
                  <a:schemeClr val="dk1"/>
                </a:solidFill>
              </a:rPr>
              <a:t>The confidence interval varies over time because it </a:t>
            </a:r>
            <a:r>
              <a:rPr b="1" lang="de">
                <a:solidFill>
                  <a:schemeClr val="dk1"/>
                </a:solidFill>
              </a:rPr>
              <a:t>represents the uncertainty</a:t>
            </a:r>
            <a:r>
              <a:rPr lang="de">
                <a:solidFill>
                  <a:schemeClr val="dk1"/>
                </a:solidFill>
              </a:rPr>
              <a:t> of the regression estimate at each point, which is lowest near the centre of the data and increases toward the edges.</a:t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de">
                <a:solidFill>
                  <a:schemeClr val="dk1"/>
                </a:solidFill>
              </a:rPr>
              <a:t>at the beginning and end of the time series, fewer surrounding data points provide support for the trend.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de">
                <a:solidFill>
                  <a:schemeClr val="dk1"/>
                </a:solidFill>
              </a:rPr>
              <a:t> 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de">
                <a:solidFill>
                  <a:schemeClr val="dk1"/>
                </a:solidFill>
              </a:rPr>
              <a:t>- pollution for fine dust particles remains fairly constant, with a small declining trend visible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de">
                <a:solidFill>
                  <a:schemeClr val="dk1"/>
                </a:solidFill>
              </a:rPr>
              <a:t>- For NO₂, however, there is a strong downward trend, indicating that the overall air quality has been increasing over the past 10 years.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de">
                <a:solidFill>
                  <a:schemeClr val="dk1"/>
                </a:solidFill>
              </a:rPr>
              <a:t>- cause for this could be a general push for environmental awareness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g3d1120a9cab_16_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5" name="Google Shape;215;g3d1120a9cab_16_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de"/>
              <a:t>here we only focus on 2017 for all our pollutants.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de"/>
              <a:t> 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de"/>
              <a:t>Most points cluster around the yearly mean, with some pretty extreme outliers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de"/>
              <a:t>Especially on January 1st, the values are much higher than the yearly average, showing that the fireworks do drastically increase fine dust particle pollution.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de"/>
              <a:t>For NO₂, however, there doesn't seem to be a significant difference.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de"/>
              <a:t>The reason could be that people stayed home for the celebration.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g3d1120a9cab_16_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5" name="Google Shape;225;g3d1120a9cab_16_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de"/>
              <a:t>The third question was: How did COVID-19 lockdowns and restrictions affect air pollution in Germany compared to the previous and following years?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de"/>
              <a:t>Here you can see the blue ones describe the corona data and the red ones the years before and after corona.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de"/>
              <a:t>Hardly any differences are noticeable between the COVID and non-COVID periods, as the distributions and median values of the pollutants largely overlap, and therefore no significant impact of the pandemic is visible.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g3d11e5f9d30_16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4" name="Google Shape;234;g3d11e5f9d30_16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g3d1120a9cab_0_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3" name="Google Shape;243;g3d1120a9cab_0_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g3d1120a9cab_0_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3" name="Google Shape;253;g3d1120a9cab_0_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0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g3d1120a9cab_6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2" name="Google Shape;262;g3d1120a9cab_6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9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g3d1120a9cab_6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1" name="Google Shape;271;g3d1120a9cab_6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8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g3d0d2987a8f_1_365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0" name="Google Shape;280;g3d0d2987a8f_1_36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4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g3d0d2987a8f_1_365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6" name="Google Shape;286;g3d0d2987a8f_1_36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2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Google Shape;293;g3d0d2987a8f_1_366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4" name="Google Shape;294;g3d0d2987a8f_1_36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accent6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31" y="2824500"/>
            <a:ext cx="7370400" cy="2319000"/>
          </a:xfrm>
          <a:prstGeom prst="rtTriangle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" name="Google Shape;11;p2"/>
          <p:cNvSpPr/>
          <p:nvPr/>
        </p:nvSpPr>
        <p:spPr>
          <a:xfrm flipH="1">
            <a:off x="3582600" y="1550700"/>
            <a:ext cx="5561400" cy="3592800"/>
          </a:xfrm>
          <a:prstGeom prst="rtTriangl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" name="Google Shape;12;p2"/>
          <p:cNvSpPr/>
          <p:nvPr/>
        </p:nvSpPr>
        <p:spPr>
          <a:xfrm rot="10800000">
            <a:off x="5058905" y="0"/>
            <a:ext cx="4085100" cy="2052600"/>
          </a:xfrm>
          <a:prstGeom prst="rtTriangle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" name="Google Shape;13;p2"/>
          <p:cNvSpPr/>
          <p:nvPr/>
        </p:nvSpPr>
        <p:spPr>
          <a:xfrm>
            <a:off x="20327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rotWithShape="0" algn="ctr" sy="1010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4" name="Google Shape;14;p2"/>
          <p:cNvGrpSpPr/>
          <p:nvPr/>
        </p:nvGrpSpPr>
        <p:grpSpPr>
          <a:xfrm>
            <a:off x="255200" y="592"/>
            <a:ext cx="2250363" cy="1044300"/>
            <a:chOff x="255200" y="592"/>
            <a:chExt cx="2250363" cy="1044300"/>
          </a:xfrm>
        </p:grpSpPr>
        <p:sp>
          <p:nvSpPr>
            <p:cNvPr id="15" name="Google Shape;15;p2"/>
            <p:cNvSpPr/>
            <p:nvPr/>
          </p:nvSpPr>
          <p:spPr>
            <a:xfrm>
              <a:off x="764063" y="592"/>
              <a:ext cx="1741500" cy="1044300"/>
            </a:xfrm>
            <a:prstGeom prst="parallelogram">
              <a:avLst>
                <a:gd fmla="val 153193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" name="Google Shape;16;p2"/>
            <p:cNvSpPr/>
            <p:nvPr/>
          </p:nvSpPr>
          <p:spPr>
            <a:xfrm>
              <a:off x="509632" y="592"/>
              <a:ext cx="1741500" cy="1044300"/>
            </a:xfrm>
            <a:prstGeom prst="parallelogram">
              <a:avLst>
                <a:gd fmla="val 153193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" name="Google Shape;17;p2"/>
            <p:cNvSpPr/>
            <p:nvPr/>
          </p:nvSpPr>
          <p:spPr>
            <a:xfrm>
              <a:off x="255200" y="592"/>
              <a:ext cx="1741500" cy="1044300"/>
            </a:xfrm>
            <a:prstGeom prst="parallelogram">
              <a:avLst>
                <a:gd fmla="val 153193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8" name="Google Shape;18;p2"/>
          <p:cNvGrpSpPr/>
          <p:nvPr/>
        </p:nvGrpSpPr>
        <p:grpSpPr>
          <a:xfrm>
            <a:off x="905395" y="592"/>
            <a:ext cx="2250363" cy="1044300"/>
            <a:chOff x="905395" y="592"/>
            <a:chExt cx="2250363" cy="1044300"/>
          </a:xfrm>
        </p:grpSpPr>
        <p:sp>
          <p:nvSpPr>
            <p:cNvPr id="19" name="Google Shape;19;p2"/>
            <p:cNvSpPr/>
            <p:nvPr/>
          </p:nvSpPr>
          <p:spPr>
            <a:xfrm>
              <a:off x="1414258" y="592"/>
              <a:ext cx="1741500" cy="1044300"/>
            </a:xfrm>
            <a:prstGeom prst="parallelogram">
              <a:avLst>
                <a:gd fmla="val 153193" name="adj"/>
              </a:avLst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" name="Google Shape;20;p2"/>
            <p:cNvSpPr/>
            <p:nvPr/>
          </p:nvSpPr>
          <p:spPr>
            <a:xfrm>
              <a:off x="1159826" y="592"/>
              <a:ext cx="1741500" cy="1044300"/>
            </a:xfrm>
            <a:prstGeom prst="parallelogram">
              <a:avLst>
                <a:gd fmla="val 153193" name="adj"/>
              </a:avLst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" name="Google Shape;21;p2"/>
            <p:cNvSpPr/>
            <p:nvPr/>
          </p:nvSpPr>
          <p:spPr>
            <a:xfrm>
              <a:off x="905395" y="592"/>
              <a:ext cx="1741500" cy="1044300"/>
            </a:xfrm>
            <a:prstGeom prst="parallelogram">
              <a:avLst>
                <a:gd fmla="val 153193" name="adj"/>
              </a:avLst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2" name="Google Shape;22;p2"/>
          <p:cNvGrpSpPr/>
          <p:nvPr/>
        </p:nvGrpSpPr>
        <p:grpSpPr>
          <a:xfrm>
            <a:off x="7057468" y="5088"/>
            <a:ext cx="1851282" cy="752108"/>
            <a:chOff x="6917201" y="0"/>
            <a:chExt cx="2227777" cy="863400"/>
          </a:xfrm>
        </p:grpSpPr>
        <p:sp>
          <p:nvSpPr>
            <p:cNvPr id="23" name="Google Shape;23;p2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" name="Google Shape;24;p2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" name="Google Shape;25;p2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6" name="Google Shape;26;p2"/>
          <p:cNvGrpSpPr/>
          <p:nvPr/>
        </p:nvGrpSpPr>
        <p:grpSpPr>
          <a:xfrm>
            <a:off x="6553032" y="4217852"/>
            <a:ext cx="2389068" cy="925737"/>
            <a:chOff x="6917201" y="0"/>
            <a:chExt cx="2227777" cy="863400"/>
          </a:xfrm>
        </p:grpSpPr>
        <p:sp>
          <p:nvSpPr>
            <p:cNvPr id="27" name="Google Shape;27;p2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" name="Google Shape;28;p2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" name="Google Shape;29;p2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30" name="Google Shape;30;p2"/>
          <p:cNvGrpSpPr/>
          <p:nvPr/>
        </p:nvGrpSpPr>
        <p:grpSpPr>
          <a:xfrm>
            <a:off x="199149" y="4055652"/>
            <a:ext cx="2795414" cy="1083308"/>
            <a:chOff x="6917201" y="0"/>
            <a:chExt cx="2227777" cy="863400"/>
          </a:xfrm>
        </p:grpSpPr>
        <p:sp>
          <p:nvSpPr>
            <p:cNvPr id="31" name="Google Shape;31;p2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" name="Google Shape;32;p2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" name="Google Shape;33;p2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4" name="Google Shape;34;p2"/>
          <p:cNvSpPr txBox="1"/>
          <p:nvPr>
            <p:ph type="ctrTitle"/>
          </p:nvPr>
        </p:nvSpPr>
        <p:spPr>
          <a:xfrm>
            <a:off x="1858703" y="1822833"/>
            <a:ext cx="5361300" cy="144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1pPr>
            <a:lvl2pPr lvl="1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2pPr>
            <a:lvl3pPr lvl="2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3pPr>
            <a:lvl4pPr lvl="3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4pPr>
            <a:lvl5pPr lvl="4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5pPr>
            <a:lvl6pPr lvl="5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6pPr>
            <a:lvl7pPr lvl="6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7pPr>
            <a:lvl8pPr lvl="7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8pPr>
            <a:lvl9pPr lvl="8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9pPr>
          </a:lstStyle>
          <a:p/>
        </p:txBody>
      </p:sp>
      <p:sp>
        <p:nvSpPr>
          <p:cNvPr id="35" name="Google Shape;35;p2"/>
          <p:cNvSpPr txBox="1"/>
          <p:nvPr>
            <p:ph idx="1" type="subTitle"/>
          </p:nvPr>
        </p:nvSpPr>
        <p:spPr>
          <a:xfrm>
            <a:off x="1858700" y="3413158"/>
            <a:ext cx="5361300" cy="52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6" name="Google Shape;36;p2"/>
          <p:cNvSpPr txBox="1"/>
          <p:nvPr>
            <p:ph idx="12" type="sldNum"/>
          </p:nvPr>
        </p:nvSpPr>
        <p:spPr>
          <a:xfrm>
            <a:off x="8225347" y="4414677"/>
            <a:ext cx="714000" cy="522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accent3"/>
        </a:solidFill>
      </p:bgPr>
    </p:bg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3"/>
          <p:cNvSpPr/>
          <p:nvPr/>
        </p:nvSpPr>
        <p:spPr>
          <a:xfrm flipH="1">
            <a:off x="4757100" y="2309400"/>
            <a:ext cx="4386900" cy="2834100"/>
          </a:xfrm>
          <a:prstGeom prst="rtTriangle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39" name="Google Shape;39;p3"/>
          <p:cNvGrpSpPr/>
          <p:nvPr/>
        </p:nvGrpSpPr>
        <p:grpSpPr>
          <a:xfrm>
            <a:off x="5594191" y="3961115"/>
            <a:ext cx="2910145" cy="1182340"/>
            <a:chOff x="6917201" y="0"/>
            <a:chExt cx="2227777" cy="863400"/>
          </a:xfrm>
        </p:grpSpPr>
        <p:sp>
          <p:nvSpPr>
            <p:cNvPr id="40" name="Google Shape;40;p3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" name="Google Shape;41;p3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" name="Google Shape;42;p3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43" name="Google Shape;43;p3"/>
          <p:cNvGrpSpPr/>
          <p:nvPr/>
        </p:nvGrpSpPr>
        <p:grpSpPr>
          <a:xfrm>
            <a:off x="199149" y="2"/>
            <a:ext cx="2795414" cy="1083308"/>
            <a:chOff x="6917201" y="0"/>
            <a:chExt cx="2227777" cy="863400"/>
          </a:xfrm>
        </p:grpSpPr>
        <p:sp>
          <p:nvSpPr>
            <p:cNvPr id="44" name="Google Shape;44;p3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" name="Google Shape;45;p3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" name="Google Shape;46;p3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7" name="Google Shape;47;p3"/>
          <p:cNvSpPr txBox="1"/>
          <p:nvPr>
            <p:ph type="title"/>
          </p:nvPr>
        </p:nvSpPr>
        <p:spPr>
          <a:xfrm>
            <a:off x="1888684" y="1746100"/>
            <a:ext cx="5377500" cy="1646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48" name="Google Shape;48;p3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bg>
      <p:bgPr>
        <a:solidFill>
          <a:schemeClr val="dk2"/>
        </a:solidFill>
      </p:bgPr>
    </p:bg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4"/>
          <p:cNvSpPr/>
          <p:nvPr/>
        </p:nvSpPr>
        <p:spPr>
          <a:xfrm flipH="1">
            <a:off x="3582600" y="1550700"/>
            <a:ext cx="5561400" cy="35928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" name="Google Shape;51;p4"/>
          <p:cNvSpPr/>
          <p:nvPr/>
        </p:nvSpPr>
        <p:spPr>
          <a:xfrm>
            <a:off x="31" y="2824500"/>
            <a:ext cx="7370400" cy="2319000"/>
          </a:xfrm>
          <a:prstGeom prst="rtTriangl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" name="Google Shape;52;p4"/>
          <p:cNvSpPr/>
          <p:nvPr/>
        </p:nvSpPr>
        <p:spPr>
          <a:xfrm>
            <a:off x="20322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rotWithShape="0" algn="ctr" sy="1010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" name="Google Shape;53;p4"/>
          <p:cNvSpPr txBox="1"/>
          <p:nvPr>
            <p:ph type="title"/>
          </p:nvPr>
        </p:nvSpPr>
        <p:spPr>
          <a:xfrm>
            <a:off x="819150" y="845600"/>
            <a:ext cx="7505700" cy="9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54" name="Google Shape;54;p4"/>
          <p:cNvSpPr txBox="1"/>
          <p:nvPr>
            <p:ph idx="1" type="body"/>
          </p:nvPr>
        </p:nvSpPr>
        <p:spPr>
          <a:xfrm>
            <a:off x="819150" y="1990725"/>
            <a:ext cx="7505700" cy="244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5" name="Google Shape;55;p4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bg>
      <p:bgPr>
        <a:solidFill>
          <a:schemeClr val="dk2"/>
        </a:solidFill>
      </p:bgPr>
    </p:bg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5"/>
          <p:cNvSpPr/>
          <p:nvPr/>
        </p:nvSpPr>
        <p:spPr>
          <a:xfrm flipH="1">
            <a:off x="3582600" y="1550700"/>
            <a:ext cx="5561400" cy="35928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" name="Google Shape;58;p5"/>
          <p:cNvSpPr/>
          <p:nvPr/>
        </p:nvSpPr>
        <p:spPr>
          <a:xfrm>
            <a:off x="31" y="2824500"/>
            <a:ext cx="7370400" cy="2319000"/>
          </a:xfrm>
          <a:prstGeom prst="rtTriangl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" name="Google Shape;59;p5"/>
          <p:cNvSpPr/>
          <p:nvPr/>
        </p:nvSpPr>
        <p:spPr>
          <a:xfrm>
            <a:off x="20322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rotWithShape="0" algn="ctr" sy="1010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" name="Google Shape;60;p5"/>
          <p:cNvSpPr txBox="1"/>
          <p:nvPr>
            <p:ph type="title"/>
          </p:nvPr>
        </p:nvSpPr>
        <p:spPr>
          <a:xfrm>
            <a:off x="819150" y="845600"/>
            <a:ext cx="7505700" cy="9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61" name="Google Shape;61;p5"/>
          <p:cNvSpPr txBox="1"/>
          <p:nvPr>
            <p:ph idx="1" type="body"/>
          </p:nvPr>
        </p:nvSpPr>
        <p:spPr>
          <a:xfrm>
            <a:off x="819150" y="1990725"/>
            <a:ext cx="3686100" cy="244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62" name="Google Shape;62;p5"/>
          <p:cNvSpPr txBox="1"/>
          <p:nvPr>
            <p:ph idx="2" type="body"/>
          </p:nvPr>
        </p:nvSpPr>
        <p:spPr>
          <a:xfrm>
            <a:off x="4638675" y="1990725"/>
            <a:ext cx="3686100" cy="244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63" name="Google Shape;63;p5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bg>
      <p:bgPr>
        <a:solidFill>
          <a:schemeClr val="dk2"/>
        </a:solidFill>
      </p:bgPr>
    </p:bg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6"/>
          <p:cNvSpPr/>
          <p:nvPr/>
        </p:nvSpPr>
        <p:spPr>
          <a:xfrm flipH="1">
            <a:off x="3582600" y="1550700"/>
            <a:ext cx="5561400" cy="35928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" name="Google Shape;66;p6"/>
          <p:cNvSpPr/>
          <p:nvPr/>
        </p:nvSpPr>
        <p:spPr>
          <a:xfrm>
            <a:off x="31" y="2824500"/>
            <a:ext cx="7370400" cy="2319000"/>
          </a:xfrm>
          <a:prstGeom prst="rtTriangl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" name="Google Shape;67;p6"/>
          <p:cNvSpPr/>
          <p:nvPr/>
        </p:nvSpPr>
        <p:spPr>
          <a:xfrm>
            <a:off x="20322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rotWithShape="0" algn="ctr" sy="1010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" name="Google Shape;68;p6"/>
          <p:cNvSpPr txBox="1"/>
          <p:nvPr>
            <p:ph type="title"/>
          </p:nvPr>
        </p:nvSpPr>
        <p:spPr>
          <a:xfrm>
            <a:off x="819150" y="845600"/>
            <a:ext cx="7505700" cy="9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69" name="Google Shape;69;p6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bg>
      <p:bgPr>
        <a:solidFill>
          <a:schemeClr val="accent3"/>
        </a:solidFill>
      </p:bgPr>
    </p:bg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7"/>
          <p:cNvSpPr/>
          <p:nvPr/>
        </p:nvSpPr>
        <p:spPr>
          <a:xfrm flipH="1">
            <a:off x="3582600" y="1550700"/>
            <a:ext cx="5561400" cy="35928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" name="Google Shape;72;p7"/>
          <p:cNvSpPr/>
          <p:nvPr/>
        </p:nvSpPr>
        <p:spPr>
          <a:xfrm>
            <a:off x="31" y="2824500"/>
            <a:ext cx="7370400" cy="2319000"/>
          </a:xfrm>
          <a:prstGeom prst="rtTriangle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" name="Google Shape;73;p7"/>
          <p:cNvSpPr/>
          <p:nvPr/>
        </p:nvSpPr>
        <p:spPr>
          <a:xfrm>
            <a:off x="20322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rotWithShape="0" algn="ctr" sy="1010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" name="Google Shape;74;p7"/>
          <p:cNvSpPr txBox="1"/>
          <p:nvPr>
            <p:ph type="title"/>
          </p:nvPr>
        </p:nvSpPr>
        <p:spPr>
          <a:xfrm>
            <a:off x="819150" y="845600"/>
            <a:ext cx="3709200" cy="1383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75" name="Google Shape;75;p7"/>
          <p:cNvSpPr txBox="1"/>
          <p:nvPr>
            <p:ph idx="1" type="body"/>
          </p:nvPr>
        </p:nvSpPr>
        <p:spPr>
          <a:xfrm>
            <a:off x="830700" y="2319050"/>
            <a:ext cx="3709200" cy="2119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76" name="Google Shape;76;p7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accent1"/>
        </a:solidFill>
      </p:bgPr>
    </p:bg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8"/>
          <p:cNvSpPr/>
          <p:nvPr/>
        </p:nvSpPr>
        <p:spPr>
          <a:xfrm>
            <a:off x="0" y="2823144"/>
            <a:ext cx="7369200" cy="2316900"/>
          </a:xfrm>
          <a:prstGeom prst="rtTriangle">
            <a:avLst/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" name="Google Shape;79;p8"/>
          <p:cNvSpPr/>
          <p:nvPr/>
        </p:nvSpPr>
        <p:spPr>
          <a:xfrm flipH="1">
            <a:off x="3583210" y="1554113"/>
            <a:ext cx="5560500" cy="35895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80" name="Google Shape;80;p8"/>
          <p:cNvGrpSpPr/>
          <p:nvPr/>
        </p:nvGrpSpPr>
        <p:grpSpPr>
          <a:xfrm>
            <a:off x="255991" y="-118"/>
            <a:ext cx="2251347" cy="1043408"/>
            <a:chOff x="3961956" y="4383950"/>
            <a:chExt cx="1160548" cy="548700"/>
          </a:xfrm>
        </p:grpSpPr>
        <p:sp>
          <p:nvSpPr>
            <p:cNvPr id="81" name="Google Shape;81;p8"/>
            <p:cNvSpPr/>
            <p:nvPr/>
          </p:nvSpPr>
          <p:spPr>
            <a:xfrm>
              <a:off x="4224904" y="4383950"/>
              <a:ext cx="897600" cy="548700"/>
            </a:xfrm>
            <a:prstGeom prst="parallelogram">
              <a:avLst>
                <a:gd fmla="val 153193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" name="Google Shape;82;p8"/>
            <p:cNvSpPr/>
            <p:nvPr/>
          </p:nvSpPr>
          <p:spPr>
            <a:xfrm>
              <a:off x="4093430" y="4383950"/>
              <a:ext cx="897600" cy="548700"/>
            </a:xfrm>
            <a:prstGeom prst="parallelogram">
              <a:avLst>
                <a:gd fmla="val 153193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" name="Google Shape;83;p8"/>
            <p:cNvSpPr/>
            <p:nvPr/>
          </p:nvSpPr>
          <p:spPr>
            <a:xfrm>
              <a:off x="3961956" y="4383950"/>
              <a:ext cx="897600" cy="548700"/>
            </a:xfrm>
            <a:prstGeom prst="parallelogram">
              <a:avLst>
                <a:gd fmla="val 153193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84" name="Google Shape;84;p8"/>
          <p:cNvSpPr/>
          <p:nvPr/>
        </p:nvSpPr>
        <p:spPr>
          <a:xfrm>
            <a:off x="20322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rotWithShape="0" algn="ctr" sy="1010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85" name="Google Shape;85;p8"/>
          <p:cNvGrpSpPr/>
          <p:nvPr/>
        </p:nvGrpSpPr>
        <p:grpSpPr>
          <a:xfrm>
            <a:off x="34934" y="4522125"/>
            <a:ext cx="1593306" cy="617072"/>
            <a:chOff x="6917201" y="0"/>
            <a:chExt cx="2227777" cy="863400"/>
          </a:xfrm>
        </p:grpSpPr>
        <p:sp>
          <p:nvSpPr>
            <p:cNvPr id="86" name="Google Shape;86;p8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" name="Google Shape;87;p8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" name="Google Shape;88;p8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89" name="Google Shape;89;p8"/>
          <p:cNvGrpSpPr/>
          <p:nvPr/>
        </p:nvGrpSpPr>
        <p:grpSpPr>
          <a:xfrm>
            <a:off x="5886353" y="1243"/>
            <a:ext cx="3257455" cy="1261514"/>
            <a:chOff x="6917201" y="0"/>
            <a:chExt cx="2227777" cy="863400"/>
          </a:xfrm>
        </p:grpSpPr>
        <p:sp>
          <p:nvSpPr>
            <p:cNvPr id="90" name="Google Shape;90;p8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1" name="Google Shape;91;p8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2" name="Google Shape;92;p8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93" name="Google Shape;93;p8"/>
          <p:cNvSpPr txBox="1"/>
          <p:nvPr>
            <p:ph type="title"/>
          </p:nvPr>
        </p:nvSpPr>
        <p:spPr>
          <a:xfrm>
            <a:off x="1393929" y="1301146"/>
            <a:ext cx="6366900" cy="2539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1pPr>
            <a:lvl2pPr lvl="1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2pPr>
            <a:lvl3pPr lvl="2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3pPr>
            <a:lvl4pPr lvl="3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4pPr>
            <a:lvl5pPr lvl="4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5pPr>
            <a:lvl6pPr lvl="5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6pPr>
            <a:lvl7pPr lvl="6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7pPr>
            <a:lvl8pPr lvl="7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8pPr>
            <a:lvl9pPr lvl="8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9pPr>
          </a:lstStyle>
          <a:p/>
        </p:txBody>
      </p:sp>
      <p:sp>
        <p:nvSpPr>
          <p:cNvPr id="94" name="Google Shape;94;p8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bg>
      <p:bgPr>
        <a:solidFill>
          <a:schemeClr val="dk2"/>
        </a:solidFill>
      </p:bgPr>
    </p:bg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9"/>
          <p:cNvSpPr/>
          <p:nvPr/>
        </p:nvSpPr>
        <p:spPr>
          <a:xfrm flipH="1">
            <a:off x="3582600" y="1550700"/>
            <a:ext cx="5561400" cy="35928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" name="Google Shape;97;p9"/>
          <p:cNvSpPr/>
          <p:nvPr/>
        </p:nvSpPr>
        <p:spPr>
          <a:xfrm>
            <a:off x="31" y="2824500"/>
            <a:ext cx="7370400" cy="2319000"/>
          </a:xfrm>
          <a:prstGeom prst="rtTriangl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" name="Google Shape;98;p9"/>
          <p:cNvSpPr/>
          <p:nvPr/>
        </p:nvSpPr>
        <p:spPr>
          <a:xfrm>
            <a:off x="20322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rotWithShape="0" algn="ctr" sy="1010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" name="Google Shape;99;p9"/>
          <p:cNvSpPr txBox="1"/>
          <p:nvPr>
            <p:ph type="title"/>
          </p:nvPr>
        </p:nvSpPr>
        <p:spPr>
          <a:xfrm>
            <a:off x="819150" y="845600"/>
            <a:ext cx="6424200" cy="70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100" name="Google Shape;100;p9"/>
          <p:cNvSpPr txBox="1"/>
          <p:nvPr>
            <p:ph idx="1" type="subTitle"/>
          </p:nvPr>
        </p:nvSpPr>
        <p:spPr>
          <a:xfrm>
            <a:off x="819150" y="1550700"/>
            <a:ext cx="58599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01" name="Google Shape;101;p9"/>
          <p:cNvSpPr txBox="1"/>
          <p:nvPr>
            <p:ph idx="2" type="body"/>
          </p:nvPr>
        </p:nvSpPr>
        <p:spPr>
          <a:xfrm>
            <a:off x="819150" y="2467050"/>
            <a:ext cx="5859900" cy="209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02" name="Google Shape;102;p9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bg>
      <p:bgPr>
        <a:solidFill>
          <a:schemeClr val="accent1"/>
        </a:solidFill>
      </p:bgPr>
    </p:bg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10"/>
          <p:cNvSpPr/>
          <p:nvPr/>
        </p:nvSpPr>
        <p:spPr>
          <a:xfrm>
            <a:off x="31" y="2824500"/>
            <a:ext cx="7370400" cy="23190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" name="Google Shape;105;p10"/>
          <p:cNvSpPr/>
          <p:nvPr/>
        </p:nvSpPr>
        <p:spPr>
          <a:xfrm flipH="1">
            <a:off x="3582600" y="1550700"/>
            <a:ext cx="5561400" cy="3592800"/>
          </a:xfrm>
          <a:prstGeom prst="rtTriangle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" name="Google Shape;106;p10"/>
          <p:cNvSpPr/>
          <p:nvPr/>
        </p:nvSpPr>
        <p:spPr>
          <a:xfrm>
            <a:off x="20322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rotWithShape="0" algn="ctr" sy="1010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" name="Google Shape;107;p10"/>
          <p:cNvSpPr txBox="1"/>
          <p:nvPr>
            <p:ph idx="1" type="body"/>
          </p:nvPr>
        </p:nvSpPr>
        <p:spPr>
          <a:xfrm>
            <a:off x="328025" y="4163500"/>
            <a:ext cx="7415100" cy="605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</a:lstStyle>
          <a:p/>
        </p:txBody>
      </p:sp>
      <p:sp>
        <p:nvSpPr>
          <p:cNvPr id="108" name="Google Shape;108;p10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bg>
      <p:bgPr>
        <a:solidFill>
          <a:schemeClr val="accent3"/>
        </a:solidFill>
      </p:bgPr>
    </p:bg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11"/>
          <p:cNvSpPr/>
          <p:nvPr/>
        </p:nvSpPr>
        <p:spPr>
          <a:xfrm flipH="1">
            <a:off x="5569200" y="2834075"/>
            <a:ext cx="3574800" cy="2309400"/>
          </a:xfrm>
          <a:prstGeom prst="rtTriangle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11" name="Google Shape;111;p11"/>
          <p:cNvGrpSpPr/>
          <p:nvPr/>
        </p:nvGrpSpPr>
        <p:grpSpPr>
          <a:xfrm>
            <a:off x="5959222" y="4119576"/>
            <a:ext cx="2520952" cy="1024165"/>
            <a:chOff x="6917201" y="0"/>
            <a:chExt cx="2227777" cy="863400"/>
          </a:xfrm>
        </p:grpSpPr>
        <p:sp>
          <p:nvSpPr>
            <p:cNvPr id="112" name="Google Shape;112;p11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3" name="Google Shape;113;p11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" name="Google Shape;114;p11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15" name="Google Shape;115;p11"/>
          <p:cNvGrpSpPr/>
          <p:nvPr/>
        </p:nvGrpSpPr>
        <p:grpSpPr>
          <a:xfrm>
            <a:off x="199149" y="2"/>
            <a:ext cx="2795414" cy="1083308"/>
            <a:chOff x="6917201" y="0"/>
            <a:chExt cx="2227777" cy="863400"/>
          </a:xfrm>
        </p:grpSpPr>
        <p:sp>
          <p:nvSpPr>
            <p:cNvPr id="116" name="Google Shape;116;p11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" name="Google Shape;117;p11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" name="Google Shape;118;p11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19" name="Google Shape;119;p11"/>
          <p:cNvSpPr txBox="1"/>
          <p:nvPr>
            <p:ph hasCustomPrompt="1" type="title"/>
          </p:nvPr>
        </p:nvSpPr>
        <p:spPr>
          <a:xfrm>
            <a:off x="1385850" y="1383850"/>
            <a:ext cx="6372300" cy="1379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20" name="Google Shape;120;p11"/>
          <p:cNvSpPr txBox="1"/>
          <p:nvPr>
            <p:ph idx="1" type="body"/>
          </p:nvPr>
        </p:nvSpPr>
        <p:spPr>
          <a:xfrm>
            <a:off x="1385850" y="2863850"/>
            <a:ext cx="6372300" cy="64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 algn="ctr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 algn="ctr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 algn="ctr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algn="ctr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algn="ctr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algn="ctr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algn="ctr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algn="ctr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algn="ctr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21" name="Google Shape;121;p11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12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hift">
    <p:bg>
      <p:bgPr>
        <a:solidFill>
          <a:schemeClr val="dk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39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Calibri"/>
              <a:buChar char="●"/>
              <a:defRPr sz="13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984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○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984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■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984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●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984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○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984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■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984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●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984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○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984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■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buNone/>
              <a:defRPr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lvl="1" algn="r">
              <a:buNone/>
              <a:defRPr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lvl="2" algn="r">
              <a:buNone/>
              <a:defRPr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lvl="3" algn="r">
              <a:buNone/>
              <a:defRPr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lvl="4" algn="r">
              <a:buNone/>
              <a:defRPr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lvl="5" algn="r">
              <a:buNone/>
              <a:defRPr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lvl="6" algn="r">
              <a:buNone/>
              <a:defRPr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lvl="7" algn="r">
              <a:buNone/>
              <a:defRPr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lvl="8" algn="r">
              <a:buNone/>
              <a:defRPr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8.png"/><Relationship Id="rId4" Type="http://schemas.openxmlformats.org/officeDocument/2006/relationships/image" Target="../media/image6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2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1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3.png"/><Relationship Id="rId4" Type="http://schemas.openxmlformats.org/officeDocument/2006/relationships/image" Target="../media/image10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5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7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9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4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13"/>
          <p:cNvSpPr txBox="1"/>
          <p:nvPr>
            <p:ph type="ctrTitle"/>
          </p:nvPr>
        </p:nvSpPr>
        <p:spPr>
          <a:xfrm>
            <a:off x="2910900" y="1683550"/>
            <a:ext cx="3322200" cy="1578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de"/>
              <a:t>Air Pollution in Germany</a:t>
            </a:r>
            <a:endParaRPr/>
          </a:p>
        </p:txBody>
      </p:sp>
      <p:sp>
        <p:nvSpPr>
          <p:cNvPr id="129" name="Google Shape;129;p13"/>
          <p:cNvSpPr txBox="1"/>
          <p:nvPr>
            <p:ph idx="1" type="subTitle"/>
          </p:nvPr>
        </p:nvSpPr>
        <p:spPr>
          <a:xfrm>
            <a:off x="1858700" y="3413158"/>
            <a:ext cx="5361300" cy="52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de"/>
              <a:t>Finn Dumke, Jonas Schaaf, Lennart Klose, Lasse Ehrhorn</a:t>
            </a:r>
            <a:endParaRPr/>
          </a:p>
        </p:txBody>
      </p:sp>
      <p:sp>
        <p:nvSpPr>
          <p:cNvPr id="130" name="Google Shape;130;p13"/>
          <p:cNvSpPr txBox="1"/>
          <p:nvPr>
            <p:ph idx="1" type="subTitle"/>
          </p:nvPr>
        </p:nvSpPr>
        <p:spPr>
          <a:xfrm>
            <a:off x="7621400" y="4346500"/>
            <a:ext cx="1275000" cy="52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de"/>
              <a:t>20.03.2026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14"/>
          <p:cNvSpPr txBox="1"/>
          <p:nvPr>
            <p:ph type="title"/>
          </p:nvPr>
        </p:nvSpPr>
        <p:spPr>
          <a:xfrm>
            <a:off x="819150" y="677075"/>
            <a:ext cx="7505700" cy="9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de" sz="3200"/>
              <a:t>Agenda</a:t>
            </a:r>
            <a:endParaRPr sz="3200"/>
          </a:p>
        </p:txBody>
      </p:sp>
      <p:sp>
        <p:nvSpPr>
          <p:cNvPr id="136" name="Google Shape;136;p14"/>
          <p:cNvSpPr txBox="1"/>
          <p:nvPr>
            <p:ph idx="1" type="body"/>
          </p:nvPr>
        </p:nvSpPr>
        <p:spPr>
          <a:xfrm>
            <a:off x="819150" y="1497025"/>
            <a:ext cx="7745100" cy="2930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marR="292100" rtl="0" algn="l">
              <a:lnSpc>
                <a:spcPct val="150000"/>
              </a:lnSpc>
              <a:spcBef>
                <a:spcPts val="800"/>
              </a:spcBef>
              <a:spcAft>
                <a:spcPts val="0"/>
              </a:spcAft>
              <a:buClr>
                <a:srgbClr val="323232"/>
              </a:buClr>
              <a:buSzPts val="1400"/>
              <a:buFont typeface="Open Sans"/>
              <a:buChar char="●"/>
            </a:pPr>
            <a:r>
              <a:rPr lang="de" sz="1400">
                <a:solidFill>
                  <a:srgbClr val="323232"/>
                </a:solidFill>
                <a:latin typeface="Open Sans"/>
                <a:ea typeface="Open Sans"/>
                <a:cs typeface="Open Sans"/>
                <a:sym typeface="Open Sans"/>
              </a:rPr>
              <a:t>Introduction</a:t>
            </a:r>
            <a:endParaRPr sz="1400">
              <a:solidFill>
                <a:srgbClr val="323232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-317500" lvl="0" marL="457200" marR="2921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23232"/>
              </a:buClr>
              <a:buSzPts val="1400"/>
              <a:buFont typeface="Open Sans"/>
              <a:buChar char="●"/>
            </a:pPr>
            <a:r>
              <a:rPr lang="de" sz="1400">
                <a:solidFill>
                  <a:srgbClr val="323232"/>
                </a:solidFill>
                <a:latin typeface="Open Sans"/>
                <a:ea typeface="Open Sans"/>
                <a:cs typeface="Open Sans"/>
                <a:sym typeface="Open Sans"/>
              </a:rPr>
              <a:t>Data Collection</a:t>
            </a:r>
            <a:endParaRPr sz="1400">
              <a:solidFill>
                <a:srgbClr val="323232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-317500" lvl="0" marL="457200" marR="2921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23232"/>
              </a:buClr>
              <a:buSzPts val="1400"/>
              <a:buFont typeface="Open Sans"/>
              <a:buChar char="●"/>
            </a:pPr>
            <a:r>
              <a:rPr lang="de" sz="1400">
                <a:solidFill>
                  <a:srgbClr val="323232"/>
                </a:solidFill>
                <a:latin typeface="Open Sans"/>
                <a:ea typeface="Open Sans"/>
                <a:cs typeface="Open Sans"/>
                <a:sym typeface="Open Sans"/>
              </a:rPr>
              <a:t>Challenges</a:t>
            </a:r>
            <a:endParaRPr sz="1400">
              <a:solidFill>
                <a:srgbClr val="323232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-317500" lvl="0" marL="457200" marR="2921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23232"/>
              </a:buClr>
              <a:buSzPts val="1400"/>
              <a:buFont typeface="Open Sans"/>
              <a:buChar char="●"/>
            </a:pPr>
            <a:r>
              <a:rPr lang="de" sz="1400">
                <a:solidFill>
                  <a:srgbClr val="323232"/>
                </a:solidFill>
                <a:latin typeface="Open Sans"/>
                <a:ea typeface="Open Sans"/>
                <a:cs typeface="Open Sans"/>
                <a:sym typeface="Open Sans"/>
              </a:rPr>
              <a:t>Research Questions</a:t>
            </a:r>
            <a:endParaRPr sz="1400">
              <a:solidFill>
                <a:srgbClr val="323232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-317500" lvl="0" marL="457200" marR="2921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23232"/>
              </a:buClr>
              <a:buSzPts val="1400"/>
              <a:buFont typeface="Open Sans"/>
              <a:buChar char="●"/>
            </a:pPr>
            <a:r>
              <a:rPr lang="de" sz="1400">
                <a:solidFill>
                  <a:srgbClr val="323232"/>
                </a:solidFill>
                <a:latin typeface="Open Sans"/>
                <a:ea typeface="Open Sans"/>
                <a:cs typeface="Open Sans"/>
                <a:sym typeface="Open Sans"/>
              </a:rPr>
              <a:t>Website</a:t>
            </a:r>
            <a:endParaRPr sz="1400">
              <a:solidFill>
                <a:srgbClr val="323232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marR="29210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rgbClr val="323232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marR="29210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rgbClr val="323232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91440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 sz="1400">
              <a:solidFill>
                <a:srgbClr val="323232"/>
              </a:solidFill>
              <a:highlight>
                <a:srgbClr val="FFFFFF"/>
              </a:highlight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37" name="Google Shape;137;p14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‹#›</a:t>
            </a:fld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15"/>
          <p:cNvSpPr txBox="1"/>
          <p:nvPr>
            <p:ph type="title"/>
          </p:nvPr>
        </p:nvSpPr>
        <p:spPr>
          <a:xfrm>
            <a:off x="1888684" y="1746100"/>
            <a:ext cx="5377500" cy="1646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de" sz="3600"/>
              <a:t>Introduction</a:t>
            </a:r>
            <a:endParaRPr sz="3600"/>
          </a:p>
        </p:txBody>
      </p:sp>
      <p:sp>
        <p:nvSpPr>
          <p:cNvPr id="143" name="Google Shape;143;p15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‹#›</a:t>
            </a:fld>
            <a:endParaRPr sz="12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16"/>
          <p:cNvSpPr txBox="1"/>
          <p:nvPr>
            <p:ph type="title"/>
          </p:nvPr>
        </p:nvSpPr>
        <p:spPr>
          <a:xfrm>
            <a:off x="819150" y="677075"/>
            <a:ext cx="7505700" cy="9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de" sz="3200"/>
              <a:t>Introduction</a:t>
            </a:r>
            <a:endParaRPr sz="3200"/>
          </a:p>
        </p:txBody>
      </p:sp>
      <p:sp>
        <p:nvSpPr>
          <p:cNvPr id="149" name="Google Shape;149;p16"/>
          <p:cNvSpPr txBox="1"/>
          <p:nvPr>
            <p:ph idx="1" type="body"/>
          </p:nvPr>
        </p:nvSpPr>
        <p:spPr>
          <a:xfrm>
            <a:off x="819150" y="1497025"/>
            <a:ext cx="7745100" cy="2930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23232"/>
              </a:buClr>
              <a:buSzPts val="1400"/>
              <a:buFont typeface="Open Sans"/>
              <a:buChar char="●"/>
            </a:pPr>
            <a:r>
              <a:rPr lang="de" sz="1400">
                <a:solidFill>
                  <a:srgbClr val="323232"/>
                </a:solidFill>
                <a:highlight>
                  <a:srgbClr val="FFFFFF"/>
                </a:highlight>
                <a:latin typeface="Open Sans"/>
                <a:ea typeface="Open Sans"/>
                <a:cs typeface="Open Sans"/>
                <a:sym typeface="Open Sans"/>
              </a:rPr>
              <a:t>Air Quality in Germany</a:t>
            </a:r>
            <a:endParaRPr sz="1400">
              <a:solidFill>
                <a:srgbClr val="323232"/>
              </a:solidFill>
              <a:highlight>
                <a:srgbClr val="FFFFFF"/>
              </a:highlight>
              <a:latin typeface="Open Sans"/>
              <a:ea typeface="Open Sans"/>
              <a:cs typeface="Open Sans"/>
              <a:sym typeface="Open Sans"/>
            </a:endParaRPr>
          </a:p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23232"/>
              </a:buClr>
              <a:buSzPts val="1400"/>
              <a:buFont typeface="Open Sans"/>
              <a:buChar char="●"/>
            </a:pPr>
            <a:r>
              <a:rPr lang="de" sz="1400">
                <a:solidFill>
                  <a:srgbClr val="323232"/>
                </a:solidFill>
                <a:highlight>
                  <a:srgbClr val="FFFFFF"/>
                </a:highlight>
                <a:latin typeface="Open Sans"/>
                <a:ea typeface="Open Sans"/>
                <a:cs typeface="Open Sans"/>
                <a:sym typeface="Open Sans"/>
              </a:rPr>
              <a:t>How does the </a:t>
            </a:r>
            <a:r>
              <a:rPr lang="de" sz="1400">
                <a:solidFill>
                  <a:srgbClr val="323232"/>
                </a:solidFill>
                <a:highlight>
                  <a:srgbClr val="FFFFFF"/>
                </a:highlight>
                <a:latin typeface="Open Sans"/>
                <a:ea typeface="Open Sans"/>
                <a:cs typeface="Open Sans"/>
                <a:sym typeface="Open Sans"/>
              </a:rPr>
              <a:t>quality</a:t>
            </a:r>
            <a:r>
              <a:rPr lang="de" sz="1400">
                <a:solidFill>
                  <a:srgbClr val="323232"/>
                </a:solidFill>
                <a:highlight>
                  <a:srgbClr val="FFFFFF"/>
                </a:highlight>
                <a:latin typeface="Open Sans"/>
                <a:ea typeface="Open Sans"/>
                <a:cs typeface="Open Sans"/>
                <a:sym typeface="Open Sans"/>
              </a:rPr>
              <a:t> change based on location/time/pollutant?</a:t>
            </a:r>
            <a:endParaRPr sz="1400">
              <a:solidFill>
                <a:srgbClr val="323232"/>
              </a:solidFill>
              <a:highlight>
                <a:srgbClr val="FFFFFF"/>
              </a:highlight>
              <a:latin typeface="Open Sans"/>
              <a:ea typeface="Open Sans"/>
              <a:cs typeface="Open Sans"/>
              <a:sym typeface="Open Sans"/>
            </a:endParaRPr>
          </a:p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23232"/>
              </a:buClr>
              <a:buSzPts val="1400"/>
              <a:buFont typeface="Open Sans"/>
              <a:buChar char="●"/>
            </a:pPr>
            <a:r>
              <a:rPr lang="de" sz="1400">
                <a:solidFill>
                  <a:srgbClr val="323232"/>
                </a:solidFill>
                <a:highlight>
                  <a:srgbClr val="FFFFFF"/>
                </a:highlight>
                <a:latin typeface="Open Sans"/>
                <a:ea typeface="Open Sans"/>
                <a:cs typeface="Open Sans"/>
                <a:sym typeface="Open Sans"/>
              </a:rPr>
              <a:t>Pollutants:</a:t>
            </a:r>
            <a:endParaRPr sz="1400">
              <a:solidFill>
                <a:srgbClr val="323232"/>
              </a:solidFill>
              <a:highlight>
                <a:srgbClr val="FFFFFF"/>
              </a:highlight>
              <a:latin typeface="Open Sans"/>
              <a:ea typeface="Open Sans"/>
              <a:cs typeface="Open Sans"/>
              <a:sym typeface="Open Sans"/>
            </a:endParaRPr>
          </a:p>
          <a:p>
            <a:pPr indent="-3175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23232"/>
              </a:buClr>
              <a:buSzPts val="1400"/>
              <a:buFont typeface="Open Sans"/>
              <a:buChar char="○"/>
            </a:pPr>
            <a:r>
              <a:rPr lang="de" sz="1400">
                <a:solidFill>
                  <a:srgbClr val="323232"/>
                </a:solidFill>
                <a:highlight>
                  <a:srgbClr val="FFFFFF"/>
                </a:highlight>
                <a:latin typeface="Open Sans"/>
                <a:ea typeface="Open Sans"/>
                <a:cs typeface="Open Sans"/>
                <a:sym typeface="Open Sans"/>
              </a:rPr>
              <a:t>PM₁₀ - Fine particles (≤10 µm) from traffic, industry, and dust that can enter the lungs and impact health.</a:t>
            </a:r>
            <a:endParaRPr sz="1400">
              <a:solidFill>
                <a:srgbClr val="323232"/>
              </a:solidFill>
              <a:highlight>
                <a:srgbClr val="FFFFFF"/>
              </a:highlight>
              <a:latin typeface="Open Sans"/>
              <a:ea typeface="Open Sans"/>
              <a:cs typeface="Open Sans"/>
              <a:sym typeface="Open Sans"/>
            </a:endParaRPr>
          </a:p>
          <a:p>
            <a:pPr indent="-3175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23232"/>
              </a:buClr>
              <a:buSzPts val="1400"/>
              <a:buFont typeface="Open Sans"/>
              <a:buChar char="○"/>
            </a:pPr>
            <a:r>
              <a:rPr lang="de" sz="1400">
                <a:solidFill>
                  <a:srgbClr val="323232"/>
                </a:solidFill>
                <a:highlight>
                  <a:srgbClr val="FFFFFF"/>
                </a:highlight>
                <a:latin typeface="Open Sans"/>
                <a:ea typeface="Open Sans"/>
                <a:cs typeface="Open Sans"/>
                <a:sym typeface="Open Sans"/>
              </a:rPr>
              <a:t>PM₂.₅ -Very fine particles (≤2.5 µm) from combustion (e.g., vehicles, heating, power plants) that can reach deep lungs and enter the bloodstream.</a:t>
            </a:r>
            <a:endParaRPr sz="1400">
              <a:solidFill>
                <a:srgbClr val="323232"/>
              </a:solidFill>
              <a:highlight>
                <a:srgbClr val="FFFFFF"/>
              </a:highlight>
              <a:latin typeface="Open Sans"/>
              <a:ea typeface="Open Sans"/>
              <a:cs typeface="Open Sans"/>
              <a:sym typeface="Open Sans"/>
            </a:endParaRPr>
          </a:p>
          <a:p>
            <a:pPr indent="-3175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23232"/>
              </a:buClr>
              <a:buSzPts val="1400"/>
              <a:buFont typeface="Open Sans"/>
              <a:buChar char="○"/>
            </a:pPr>
            <a:r>
              <a:rPr lang="de" sz="1400">
                <a:solidFill>
                  <a:srgbClr val="323232"/>
                </a:solidFill>
                <a:highlight>
                  <a:srgbClr val="FFFFFF"/>
                </a:highlight>
                <a:latin typeface="Open Sans"/>
                <a:ea typeface="Open Sans"/>
                <a:cs typeface="Open Sans"/>
                <a:sym typeface="Open Sans"/>
              </a:rPr>
              <a:t>NO₂ - A gaseous pollutant from combustion that irritates the respiratory system and contributes to ozone and particulate formation.</a:t>
            </a:r>
            <a:endParaRPr sz="1400">
              <a:solidFill>
                <a:srgbClr val="323232"/>
              </a:solidFill>
              <a:highlight>
                <a:srgbClr val="FFFFFF"/>
              </a:highlight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45720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400">
              <a:solidFill>
                <a:srgbClr val="323232"/>
              </a:solidFill>
              <a:highlight>
                <a:srgbClr val="FFFFFF"/>
              </a:highlight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50" name="Google Shape;150;p16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‹#›</a:t>
            </a:fld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17"/>
          <p:cNvSpPr txBox="1"/>
          <p:nvPr>
            <p:ph type="title"/>
          </p:nvPr>
        </p:nvSpPr>
        <p:spPr>
          <a:xfrm>
            <a:off x="819150" y="677075"/>
            <a:ext cx="7505700" cy="9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de" sz="3200"/>
              <a:t>Research Questions - UBA</a:t>
            </a:r>
            <a:endParaRPr sz="3200"/>
          </a:p>
        </p:txBody>
      </p:sp>
      <p:sp>
        <p:nvSpPr>
          <p:cNvPr id="156" name="Google Shape;156;p17"/>
          <p:cNvSpPr txBox="1"/>
          <p:nvPr>
            <p:ph idx="1" type="body"/>
          </p:nvPr>
        </p:nvSpPr>
        <p:spPr>
          <a:xfrm>
            <a:off x="819150" y="1497025"/>
            <a:ext cx="7745100" cy="2930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marR="29210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rgbClr val="323232"/>
              </a:buClr>
              <a:buSzPts val="1400"/>
              <a:buFont typeface="Open Sans"/>
              <a:buChar char="●"/>
            </a:pPr>
            <a:r>
              <a:rPr lang="de" sz="1400">
                <a:solidFill>
                  <a:srgbClr val="323232"/>
                </a:solidFill>
                <a:latin typeface="Open Sans"/>
                <a:ea typeface="Open Sans"/>
                <a:cs typeface="Open Sans"/>
                <a:sym typeface="Open Sans"/>
              </a:rPr>
              <a:t>How did the average values of PM₁₀, PM₂</a:t>
            </a:r>
            <a:r>
              <a:rPr lang="de" sz="1400">
                <a:solidFill>
                  <a:srgbClr val="323232"/>
                </a:solidFill>
                <a:latin typeface="Open Sans"/>
                <a:ea typeface="Open Sans"/>
                <a:cs typeface="Open Sans"/>
                <a:sym typeface="Open Sans"/>
              </a:rPr>
              <a:t>.</a:t>
            </a:r>
            <a:r>
              <a:rPr lang="de" sz="1400">
                <a:solidFill>
                  <a:srgbClr val="323232"/>
                </a:solidFill>
                <a:latin typeface="Open Sans"/>
                <a:ea typeface="Open Sans"/>
                <a:cs typeface="Open Sans"/>
                <a:sym typeface="Open Sans"/>
              </a:rPr>
              <a:t>₅ and NO₂ change in Germany?</a:t>
            </a:r>
            <a:endParaRPr sz="1400">
              <a:solidFill>
                <a:srgbClr val="323232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-317500" lvl="0" marL="457200" marR="2921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23232"/>
              </a:buClr>
              <a:buSzPts val="1400"/>
              <a:buFont typeface="Open Sans"/>
              <a:buChar char="●"/>
            </a:pPr>
            <a:r>
              <a:rPr lang="de" sz="1400">
                <a:solidFill>
                  <a:srgbClr val="323232"/>
                </a:solidFill>
                <a:latin typeface="Open Sans"/>
                <a:ea typeface="Open Sans"/>
                <a:cs typeface="Open Sans"/>
                <a:sym typeface="Open Sans"/>
              </a:rPr>
              <a:t>How does air pollution in Germany behave around New Years?</a:t>
            </a:r>
            <a:endParaRPr sz="1400">
              <a:solidFill>
                <a:srgbClr val="323232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-317500" lvl="0" marL="457200" marR="2921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23232"/>
              </a:buClr>
              <a:buSzPts val="1400"/>
              <a:buFont typeface="Open Sans"/>
              <a:buChar char="●"/>
            </a:pPr>
            <a:r>
              <a:rPr lang="de" sz="1400">
                <a:solidFill>
                  <a:srgbClr val="323232"/>
                </a:solidFill>
                <a:latin typeface="Open Sans"/>
                <a:ea typeface="Open Sans"/>
                <a:cs typeface="Open Sans"/>
                <a:sym typeface="Open Sans"/>
              </a:rPr>
              <a:t>How did COVID-19 lockdowns and restrictions affect air pollution in Germany compared to the previous and following years?</a:t>
            </a:r>
            <a:endParaRPr sz="1400">
              <a:solidFill>
                <a:srgbClr val="323232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-317500" lvl="0" marL="457200" marR="2921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23232"/>
              </a:buClr>
              <a:buSzPts val="1400"/>
              <a:buFont typeface="Open Sans"/>
              <a:buChar char="●"/>
            </a:pPr>
            <a:r>
              <a:rPr lang="de" sz="1400">
                <a:solidFill>
                  <a:srgbClr val="323232"/>
                </a:solidFill>
                <a:latin typeface="Open Sans"/>
                <a:ea typeface="Open Sans"/>
                <a:cs typeface="Open Sans"/>
                <a:sym typeface="Open Sans"/>
              </a:rPr>
              <a:t>How does the air quality for </a:t>
            </a:r>
            <a:r>
              <a:rPr lang="de" sz="1400">
                <a:solidFill>
                  <a:srgbClr val="323232"/>
                </a:solidFill>
                <a:latin typeface="Open Sans"/>
                <a:ea typeface="Open Sans"/>
                <a:cs typeface="Open Sans"/>
                <a:sym typeface="Open Sans"/>
              </a:rPr>
              <a:t>PM₁₀ </a:t>
            </a:r>
            <a:r>
              <a:rPr lang="de" sz="1400">
                <a:solidFill>
                  <a:srgbClr val="323232"/>
                </a:solidFill>
                <a:latin typeface="Open Sans"/>
                <a:ea typeface="Open Sans"/>
                <a:cs typeface="Open Sans"/>
                <a:sym typeface="Open Sans"/>
              </a:rPr>
              <a:t>vary between the different german federal states?</a:t>
            </a:r>
            <a:endParaRPr sz="1400">
              <a:solidFill>
                <a:srgbClr val="323232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-317500" lvl="0" marL="457200" marR="2921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23232"/>
              </a:buClr>
              <a:buSzPts val="1400"/>
              <a:buFont typeface="Open Sans"/>
              <a:buChar char="●"/>
            </a:pPr>
            <a:r>
              <a:rPr lang="de" sz="1400">
                <a:solidFill>
                  <a:srgbClr val="323232"/>
                </a:solidFill>
                <a:latin typeface="Open Sans"/>
                <a:ea typeface="Open Sans"/>
                <a:cs typeface="Open Sans"/>
                <a:sym typeface="Open Sans"/>
              </a:rPr>
              <a:t>How does air pollution for </a:t>
            </a:r>
            <a:r>
              <a:rPr lang="de" sz="1400">
                <a:solidFill>
                  <a:srgbClr val="323232"/>
                </a:solidFill>
                <a:latin typeface="Open Sans"/>
                <a:ea typeface="Open Sans"/>
                <a:cs typeface="Open Sans"/>
                <a:sym typeface="Open Sans"/>
              </a:rPr>
              <a:t>PM₁₀ </a:t>
            </a:r>
            <a:r>
              <a:rPr lang="de" sz="1400">
                <a:solidFill>
                  <a:srgbClr val="323232"/>
                </a:solidFill>
                <a:latin typeface="Open Sans"/>
                <a:ea typeface="Open Sans"/>
                <a:cs typeface="Open Sans"/>
                <a:sym typeface="Open Sans"/>
              </a:rPr>
              <a:t>vary across urban, suburban and rural areas?</a:t>
            </a:r>
            <a:endParaRPr sz="1400">
              <a:solidFill>
                <a:srgbClr val="323232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-317500" lvl="0" marL="457200" marR="2921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23232"/>
              </a:buClr>
              <a:buSzPts val="1400"/>
              <a:buFont typeface="Open Sans"/>
              <a:buChar char="●"/>
            </a:pPr>
            <a:r>
              <a:rPr lang="de" sz="1400">
                <a:solidFill>
                  <a:srgbClr val="323232"/>
                </a:solidFill>
                <a:latin typeface="Open Sans"/>
                <a:ea typeface="Open Sans"/>
                <a:cs typeface="Open Sans"/>
                <a:sym typeface="Open Sans"/>
              </a:rPr>
              <a:t>How does air pollution vary between background, traffic and industrial monitoring stations?</a:t>
            </a:r>
            <a:endParaRPr sz="1400">
              <a:solidFill>
                <a:srgbClr val="323232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-317500" lvl="0" marL="457200" marR="2921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23232"/>
              </a:buClr>
              <a:buSzPts val="1400"/>
              <a:buFont typeface="Open Sans"/>
              <a:buChar char="●"/>
            </a:pPr>
            <a:r>
              <a:rPr lang="de" sz="1400">
                <a:solidFill>
                  <a:srgbClr val="323232"/>
                </a:solidFill>
                <a:latin typeface="Open Sans"/>
                <a:ea typeface="Open Sans"/>
                <a:cs typeface="Open Sans"/>
                <a:sym typeface="Open Sans"/>
              </a:rPr>
              <a:t>How do seasonal changes influence the pollution concentrations in Germany between 2016 and 2025?</a:t>
            </a:r>
            <a:endParaRPr sz="1400">
              <a:solidFill>
                <a:srgbClr val="323232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91440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 sz="1400">
              <a:solidFill>
                <a:srgbClr val="323232"/>
              </a:solidFill>
              <a:highlight>
                <a:srgbClr val="FFFFFF"/>
              </a:highlight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57" name="Google Shape;157;p17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‹#›</a:t>
            </a:fld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18"/>
          <p:cNvSpPr txBox="1"/>
          <p:nvPr>
            <p:ph type="title"/>
          </p:nvPr>
        </p:nvSpPr>
        <p:spPr>
          <a:xfrm>
            <a:off x="819150" y="677075"/>
            <a:ext cx="7505700" cy="9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de" sz="3200"/>
              <a:t>Research Questions - other sources</a:t>
            </a:r>
            <a:endParaRPr sz="3200"/>
          </a:p>
        </p:txBody>
      </p:sp>
      <p:sp>
        <p:nvSpPr>
          <p:cNvPr id="163" name="Google Shape;163;p18"/>
          <p:cNvSpPr txBox="1"/>
          <p:nvPr>
            <p:ph idx="1" type="body"/>
          </p:nvPr>
        </p:nvSpPr>
        <p:spPr>
          <a:xfrm>
            <a:off x="819150" y="1497025"/>
            <a:ext cx="7745100" cy="2930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marR="29210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323232"/>
              </a:buClr>
              <a:buSzPts val="1400"/>
              <a:buFont typeface="Open Sans"/>
              <a:buChar char="●"/>
            </a:pPr>
            <a:r>
              <a:rPr lang="de" sz="1400">
                <a:solidFill>
                  <a:srgbClr val="323232"/>
                </a:solidFill>
                <a:highlight>
                  <a:srgbClr val="FFFFFF"/>
                </a:highlight>
                <a:latin typeface="Open Sans"/>
                <a:ea typeface="Open Sans"/>
                <a:cs typeface="Open Sans"/>
                <a:sym typeface="Open Sans"/>
              </a:rPr>
              <a:t>How did temperature and precipitation influence PM₁₀ and PM₂.₅ concentrations in major German cities between 2016 and 2025?</a:t>
            </a:r>
            <a:endParaRPr sz="1400">
              <a:solidFill>
                <a:srgbClr val="323232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-317500" lvl="0" marL="457200" marR="2921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23232"/>
              </a:buClr>
              <a:buSzPts val="1400"/>
              <a:buFont typeface="Open Sans"/>
              <a:buChar char="●"/>
            </a:pPr>
            <a:r>
              <a:rPr lang="de" sz="1400">
                <a:solidFill>
                  <a:srgbClr val="323232"/>
                </a:solidFill>
                <a:highlight>
                  <a:srgbClr val="FFFFFF"/>
                </a:highlight>
                <a:latin typeface="Open Sans"/>
                <a:ea typeface="Open Sans"/>
                <a:cs typeface="Open Sans"/>
                <a:sym typeface="Open Sans"/>
              </a:rPr>
              <a:t>How did summer school holidays in German federal states affect PM₁₀ and PM₂.₅ concentrations over the past ten years?</a:t>
            </a:r>
            <a:endParaRPr sz="1400">
              <a:solidFill>
                <a:srgbClr val="323232"/>
              </a:solidFill>
              <a:highlight>
                <a:srgbClr val="FFFFFF"/>
              </a:highlight>
              <a:latin typeface="Open Sans"/>
              <a:ea typeface="Open Sans"/>
              <a:cs typeface="Open Sans"/>
              <a:sym typeface="Open Sans"/>
            </a:endParaRPr>
          </a:p>
          <a:p>
            <a:pPr indent="-317500" lvl="0" marL="457200" marR="2921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23232"/>
              </a:buClr>
              <a:buSzPts val="1400"/>
              <a:buFont typeface="Open Sans"/>
              <a:buChar char="●"/>
            </a:pPr>
            <a:r>
              <a:rPr lang="de" sz="1400">
                <a:solidFill>
                  <a:srgbClr val="323232"/>
                </a:solidFill>
                <a:highlight>
                  <a:srgbClr val="FFFFFF"/>
                </a:highlight>
                <a:latin typeface="Open Sans"/>
                <a:ea typeface="Open Sans"/>
                <a:cs typeface="Open Sans"/>
                <a:sym typeface="Open Sans"/>
              </a:rPr>
              <a:t>How does Germany compare to other countries in terms of the daily and monthly average concentrations of PM₁₀, PM₂.₅ and NO₂?</a:t>
            </a:r>
            <a:endParaRPr sz="1400">
              <a:solidFill>
                <a:srgbClr val="323232"/>
              </a:solidFill>
              <a:highlight>
                <a:srgbClr val="FFFFFF"/>
              </a:highlight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rgbClr val="323232"/>
              </a:solidFill>
              <a:highlight>
                <a:schemeClr val="dk1"/>
              </a:highlight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91440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400">
              <a:solidFill>
                <a:srgbClr val="323232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64" name="Google Shape;164;p18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‹#›</a:t>
            </a:fld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19"/>
          <p:cNvSpPr txBox="1"/>
          <p:nvPr>
            <p:ph type="title"/>
          </p:nvPr>
        </p:nvSpPr>
        <p:spPr>
          <a:xfrm>
            <a:off x="1888684" y="1746100"/>
            <a:ext cx="5377500" cy="1646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de" sz="3600"/>
              <a:t>Data Collection</a:t>
            </a:r>
            <a:endParaRPr sz="3600"/>
          </a:p>
        </p:txBody>
      </p:sp>
      <p:sp>
        <p:nvSpPr>
          <p:cNvPr id="170" name="Google Shape;170;p19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‹#›</a:t>
            </a:fld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20"/>
          <p:cNvSpPr txBox="1"/>
          <p:nvPr>
            <p:ph type="title"/>
          </p:nvPr>
        </p:nvSpPr>
        <p:spPr>
          <a:xfrm>
            <a:off x="819150" y="677075"/>
            <a:ext cx="7505700" cy="9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de" sz="3200"/>
              <a:t>Data Collection</a:t>
            </a:r>
            <a:endParaRPr sz="3200"/>
          </a:p>
        </p:txBody>
      </p:sp>
      <p:sp>
        <p:nvSpPr>
          <p:cNvPr id="176" name="Google Shape;176;p20"/>
          <p:cNvSpPr txBox="1"/>
          <p:nvPr>
            <p:ph idx="1" type="body"/>
          </p:nvPr>
        </p:nvSpPr>
        <p:spPr>
          <a:xfrm>
            <a:off x="819150" y="1497025"/>
            <a:ext cx="7745100" cy="2930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marR="292100" rtl="0" algn="l">
              <a:lnSpc>
                <a:spcPct val="150000"/>
              </a:lnSpc>
              <a:spcBef>
                <a:spcPts val="800"/>
              </a:spcBef>
              <a:spcAft>
                <a:spcPts val="0"/>
              </a:spcAft>
              <a:buClr>
                <a:srgbClr val="323232"/>
              </a:buClr>
              <a:buSzPts val="1400"/>
              <a:buFont typeface="Open Sans"/>
              <a:buChar char="●"/>
            </a:pPr>
            <a:r>
              <a:rPr lang="de" sz="1400">
                <a:solidFill>
                  <a:srgbClr val="323232"/>
                </a:solidFill>
                <a:highlight>
                  <a:srgbClr val="FFFFFF"/>
                </a:highlight>
                <a:latin typeface="Open Sans"/>
                <a:ea typeface="Open Sans"/>
                <a:cs typeface="Open Sans"/>
                <a:sym typeface="Open Sans"/>
              </a:rPr>
              <a:t>Main data source: Umweltbundesamt (UBA) for pollution data</a:t>
            </a:r>
            <a:endParaRPr sz="1400">
              <a:solidFill>
                <a:srgbClr val="323232"/>
              </a:solidFill>
              <a:highlight>
                <a:srgbClr val="FFFFFF"/>
              </a:highlight>
              <a:latin typeface="Open Sans"/>
              <a:ea typeface="Open Sans"/>
              <a:cs typeface="Open Sans"/>
              <a:sym typeface="Open Sans"/>
            </a:endParaRPr>
          </a:p>
          <a:p>
            <a:pPr indent="-317500" lvl="0" marL="457200" marR="2921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23232"/>
              </a:buClr>
              <a:buSzPts val="1400"/>
              <a:buFont typeface="Open Sans"/>
              <a:buChar char="●"/>
            </a:pPr>
            <a:r>
              <a:rPr lang="de" sz="1400">
                <a:solidFill>
                  <a:srgbClr val="323232"/>
                </a:solidFill>
                <a:highlight>
                  <a:srgbClr val="FFFFFF"/>
                </a:highlight>
                <a:latin typeface="Open Sans"/>
                <a:ea typeface="Open Sans"/>
                <a:cs typeface="Open Sans"/>
                <a:sym typeface="Open Sans"/>
              </a:rPr>
              <a:t>Different monitoring stations placed across Germany</a:t>
            </a:r>
            <a:endParaRPr sz="1400">
              <a:solidFill>
                <a:srgbClr val="323232"/>
              </a:solidFill>
              <a:highlight>
                <a:srgbClr val="FFFFFF"/>
              </a:highlight>
              <a:latin typeface="Open Sans"/>
              <a:ea typeface="Open Sans"/>
              <a:cs typeface="Open Sans"/>
              <a:sym typeface="Open Sans"/>
            </a:endParaRPr>
          </a:p>
          <a:p>
            <a:pPr indent="-317500" lvl="0" marL="457200" marR="2921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23232"/>
              </a:buClr>
              <a:buSzPts val="1400"/>
              <a:buFont typeface="Open Sans"/>
              <a:buChar char="●"/>
            </a:pPr>
            <a:r>
              <a:rPr lang="de" sz="1400">
                <a:solidFill>
                  <a:srgbClr val="323232"/>
                </a:solidFill>
                <a:highlight>
                  <a:srgbClr val="FFFFFF"/>
                </a:highlight>
                <a:latin typeface="Open Sans"/>
                <a:ea typeface="Open Sans"/>
                <a:cs typeface="Open Sans"/>
                <a:sym typeface="Open Sans"/>
              </a:rPr>
              <a:t>Initially request data from all stations, then filter based on the question</a:t>
            </a:r>
            <a:endParaRPr sz="1400">
              <a:solidFill>
                <a:srgbClr val="323232"/>
              </a:solidFill>
              <a:highlight>
                <a:srgbClr val="FFFFFF"/>
              </a:highlight>
              <a:latin typeface="Open Sans"/>
              <a:ea typeface="Open Sans"/>
              <a:cs typeface="Open Sans"/>
              <a:sym typeface="Open Sans"/>
            </a:endParaRPr>
          </a:p>
          <a:p>
            <a:pPr indent="-317500" lvl="1" marL="914400" marR="2921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23232"/>
              </a:buClr>
              <a:buSzPts val="1400"/>
              <a:buFont typeface="Open Sans"/>
              <a:buChar char="○"/>
            </a:pPr>
            <a:r>
              <a:rPr lang="de" sz="1400">
                <a:solidFill>
                  <a:srgbClr val="323232"/>
                </a:solidFill>
                <a:highlight>
                  <a:srgbClr val="FFFFFF"/>
                </a:highlight>
                <a:latin typeface="Open Sans"/>
                <a:ea typeface="Open Sans"/>
                <a:cs typeface="Open Sans"/>
                <a:sym typeface="Open Sans"/>
              </a:rPr>
              <a:t>Stations have information such as state, location, area type</a:t>
            </a:r>
            <a:endParaRPr sz="1400">
              <a:solidFill>
                <a:srgbClr val="323232"/>
              </a:solidFill>
              <a:highlight>
                <a:srgbClr val="FFFFFF"/>
              </a:highlight>
              <a:latin typeface="Open Sans"/>
              <a:ea typeface="Open Sans"/>
              <a:cs typeface="Open Sans"/>
              <a:sym typeface="Open Sans"/>
            </a:endParaRPr>
          </a:p>
          <a:p>
            <a:pPr indent="-317500" lvl="1" marL="914400" marR="2921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23232"/>
              </a:buClr>
              <a:buSzPts val="1400"/>
              <a:buFont typeface="Open Sans"/>
              <a:buChar char="○"/>
            </a:pPr>
            <a:r>
              <a:rPr lang="de" sz="1400">
                <a:solidFill>
                  <a:srgbClr val="323232"/>
                </a:solidFill>
                <a:highlight>
                  <a:srgbClr val="FFFFFF"/>
                </a:highlight>
                <a:latin typeface="Open Sans"/>
                <a:ea typeface="Open Sans"/>
                <a:cs typeface="Open Sans"/>
                <a:sym typeface="Open Sans"/>
              </a:rPr>
              <a:t>Over 1.5 million requests for daily station data over a span of 10 years</a:t>
            </a:r>
            <a:endParaRPr sz="1400">
              <a:solidFill>
                <a:srgbClr val="323232"/>
              </a:solidFill>
              <a:highlight>
                <a:srgbClr val="FFFFFF"/>
              </a:highlight>
              <a:latin typeface="Open Sans"/>
              <a:ea typeface="Open Sans"/>
              <a:cs typeface="Open Sans"/>
              <a:sym typeface="Open Sans"/>
            </a:endParaRPr>
          </a:p>
          <a:p>
            <a:pPr indent="-317500" lvl="0" marL="457200" marR="2921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23232"/>
              </a:buClr>
              <a:buSzPts val="1400"/>
              <a:buFont typeface="Open Sans"/>
              <a:buChar char="●"/>
            </a:pPr>
            <a:r>
              <a:rPr lang="de" sz="1400">
                <a:solidFill>
                  <a:srgbClr val="323232"/>
                </a:solidFill>
                <a:highlight>
                  <a:srgbClr val="FFFFFF"/>
                </a:highlight>
                <a:latin typeface="Open Sans"/>
                <a:ea typeface="Open Sans"/>
                <a:cs typeface="Open Sans"/>
                <a:sym typeface="Open Sans"/>
              </a:rPr>
              <a:t>Additional data sources:</a:t>
            </a:r>
            <a:endParaRPr sz="1400">
              <a:solidFill>
                <a:srgbClr val="323232"/>
              </a:solidFill>
              <a:highlight>
                <a:srgbClr val="FFFFFF"/>
              </a:highlight>
              <a:latin typeface="Open Sans"/>
              <a:ea typeface="Open Sans"/>
              <a:cs typeface="Open Sans"/>
              <a:sym typeface="Open Sans"/>
            </a:endParaRPr>
          </a:p>
          <a:p>
            <a:pPr indent="-317500" lvl="1" marL="914400" marR="2921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23232"/>
              </a:buClr>
              <a:buSzPts val="1400"/>
              <a:buFont typeface="Open Sans"/>
              <a:buChar char="○"/>
            </a:pPr>
            <a:r>
              <a:rPr lang="de" sz="1400">
                <a:solidFill>
                  <a:srgbClr val="323232"/>
                </a:solidFill>
                <a:highlight>
                  <a:srgbClr val="FFFFFF"/>
                </a:highlight>
                <a:latin typeface="Open Sans"/>
                <a:ea typeface="Open Sans"/>
                <a:cs typeface="Open Sans"/>
                <a:sym typeface="Open Sans"/>
              </a:rPr>
              <a:t>open-Meteo - weather data</a:t>
            </a:r>
            <a:endParaRPr sz="1400">
              <a:solidFill>
                <a:srgbClr val="323232"/>
              </a:solidFill>
              <a:highlight>
                <a:srgbClr val="FFFFFF"/>
              </a:highlight>
              <a:latin typeface="Open Sans"/>
              <a:ea typeface="Open Sans"/>
              <a:cs typeface="Open Sans"/>
              <a:sym typeface="Open Sans"/>
            </a:endParaRPr>
          </a:p>
          <a:p>
            <a:pPr indent="-317500" lvl="1" marL="914400" marR="2921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23232"/>
              </a:buClr>
              <a:buSzPts val="1400"/>
              <a:buFont typeface="Open Sans"/>
              <a:buChar char="○"/>
            </a:pPr>
            <a:r>
              <a:rPr lang="de" sz="1400">
                <a:solidFill>
                  <a:srgbClr val="323232"/>
                </a:solidFill>
                <a:highlight>
                  <a:srgbClr val="FFFFFF"/>
                </a:highlight>
                <a:latin typeface="Open Sans"/>
                <a:ea typeface="Open Sans"/>
                <a:cs typeface="Open Sans"/>
                <a:sym typeface="Open Sans"/>
              </a:rPr>
              <a:t>openaq - international pollution data</a:t>
            </a:r>
            <a:endParaRPr sz="1400">
              <a:solidFill>
                <a:srgbClr val="323232"/>
              </a:solidFill>
              <a:highlight>
                <a:srgbClr val="FFFFFF"/>
              </a:highlight>
              <a:latin typeface="Open Sans"/>
              <a:ea typeface="Open Sans"/>
              <a:cs typeface="Open Sans"/>
              <a:sym typeface="Open Sans"/>
            </a:endParaRPr>
          </a:p>
          <a:p>
            <a:pPr indent="-317500" lvl="1" marL="914400" marR="2921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23232"/>
              </a:buClr>
              <a:buSzPts val="1400"/>
              <a:buFont typeface="Open Sans"/>
              <a:buChar char="○"/>
            </a:pPr>
            <a:r>
              <a:rPr lang="de" sz="1400">
                <a:solidFill>
                  <a:srgbClr val="323232"/>
                </a:solidFill>
                <a:highlight>
                  <a:srgbClr val="FFFFFF"/>
                </a:highlight>
                <a:latin typeface="Open Sans"/>
                <a:ea typeface="Open Sans"/>
                <a:cs typeface="Open Sans"/>
                <a:sym typeface="Open Sans"/>
              </a:rPr>
              <a:t>public information for school holiday dates</a:t>
            </a:r>
            <a:endParaRPr sz="1400">
              <a:solidFill>
                <a:srgbClr val="323232"/>
              </a:solidFill>
              <a:highlight>
                <a:srgbClr val="FFFFFF"/>
              </a:highlight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marR="29210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rgbClr val="323232"/>
              </a:solidFill>
              <a:highlight>
                <a:srgbClr val="FFFFFF"/>
              </a:highlight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marR="29210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rgbClr val="323232"/>
              </a:solidFill>
              <a:highlight>
                <a:srgbClr val="FFFFFF"/>
              </a:highlight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rgbClr val="323232"/>
              </a:solidFill>
              <a:highlight>
                <a:schemeClr val="dk1"/>
              </a:highlight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91440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400">
              <a:solidFill>
                <a:srgbClr val="323232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77" name="Google Shape;177;p20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‹#›</a:t>
            </a:fld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21"/>
          <p:cNvSpPr txBox="1"/>
          <p:nvPr>
            <p:ph type="title"/>
          </p:nvPr>
        </p:nvSpPr>
        <p:spPr>
          <a:xfrm>
            <a:off x="819150" y="677075"/>
            <a:ext cx="7505700" cy="9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de" sz="3200"/>
              <a:t>Used Data Attributes</a:t>
            </a:r>
            <a:endParaRPr sz="3200"/>
          </a:p>
        </p:txBody>
      </p:sp>
      <p:sp>
        <p:nvSpPr>
          <p:cNvPr id="183" name="Google Shape;183;p21"/>
          <p:cNvSpPr txBox="1"/>
          <p:nvPr>
            <p:ph idx="1" type="body"/>
          </p:nvPr>
        </p:nvSpPr>
        <p:spPr>
          <a:xfrm>
            <a:off x="819150" y="1497025"/>
            <a:ext cx="7745100" cy="2930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lnSpc>
                <a:spcPct val="150000"/>
              </a:lnSpc>
              <a:spcBef>
                <a:spcPts val="14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pen Sans"/>
              <a:buChar char="●"/>
            </a:pPr>
            <a:r>
              <a:rPr lang="de" sz="14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Station identification: station id, station code, station name</a:t>
            </a:r>
            <a:endParaRPr sz="1400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pen Sans"/>
              <a:buChar char="●"/>
            </a:pPr>
            <a:r>
              <a:rPr lang="de" sz="14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Location information: city, street, street number, ZIP code, longitude, latitude</a:t>
            </a:r>
            <a:endParaRPr sz="1400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pen Sans"/>
              <a:buChar char="●"/>
            </a:pPr>
            <a:r>
              <a:rPr lang="de" sz="14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Operational information: active from, active to</a:t>
            </a:r>
            <a:endParaRPr sz="1400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pen Sans"/>
              <a:buChar char="●"/>
            </a:pPr>
            <a:r>
              <a:rPr lang="de" sz="14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Network information: network id, network code, network name</a:t>
            </a:r>
            <a:endParaRPr sz="1400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pen Sans"/>
              <a:buChar char="●"/>
            </a:pPr>
            <a:r>
              <a:rPr lang="de" sz="14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Station classification: station type, station setting (e.g. urban, suburban, rural)</a:t>
            </a:r>
            <a:endParaRPr sz="1400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pen Sans"/>
              <a:buChar char="●"/>
            </a:pPr>
            <a:r>
              <a:rPr lang="de" sz="14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Weather data: peak temperature, precipitation sum</a:t>
            </a:r>
            <a:endParaRPr sz="1400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457200" rtl="0" algn="l">
              <a:spcBef>
                <a:spcPts val="1400"/>
              </a:spcBef>
              <a:spcAft>
                <a:spcPts val="1200"/>
              </a:spcAft>
              <a:buNone/>
            </a:pPr>
            <a:r>
              <a:t/>
            </a:r>
            <a:endParaRPr sz="1400">
              <a:solidFill>
                <a:srgbClr val="323232"/>
              </a:solidFill>
              <a:highlight>
                <a:srgbClr val="FFFFFF"/>
              </a:highlight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84" name="Google Shape;184;p21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‹#›</a:t>
            </a:fld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22"/>
          <p:cNvSpPr txBox="1"/>
          <p:nvPr>
            <p:ph type="title"/>
          </p:nvPr>
        </p:nvSpPr>
        <p:spPr>
          <a:xfrm>
            <a:off x="1888684" y="1746100"/>
            <a:ext cx="5377500" cy="1646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de" sz="3600"/>
              <a:t>Challenges</a:t>
            </a:r>
            <a:endParaRPr sz="3600"/>
          </a:p>
        </p:txBody>
      </p:sp>
      <p:sp>
        <p:nvSpPr>
          <p:cNvPr id="190" name="Google Shape;190;p22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‹#›</a:t>
            </a:fld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23"/>
          <p:cNvSpPr txBox="1"/>
          <p:nvPr>
            <p:ph type="title"/>
          </p:nvPr>
        </p:nvSpPr>
        <p:spPr>
          <a:xfrm>
            <a:off x="819150" y="677075"/>
            <a:ext cx="7505700" cy="9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de" sz="3200"/>
              <a:t>Challenges</a:t>
            </a:r>
            <a:endParaRPr sz="3200"/>
          </a:p>
        </p:txBody>
      </p:sp>
      <p:sp>
        <p:nvSpPr>
          <p:cNvPr id="196" name="Google Shape;196;p23"/>
          <p:cNvSpPr txBox="1"/>
          <p:nvPr>
            <p:ph idx="1" type="body"/>
          </p:nvPr>
        </p:nvSpPr>
        <p:spPr>
          <a:xfrm>
            <a:off x="819150" y="1497025"/>
            <a:ext cx="7745100" cy="2930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marR="292100" rtl="0" algn="l">
              <a:lnSpc>
                <a:spcPct val="150000"/>
              </a:lnSpc>
              <a:spcBef>
                <a:spcPts val="800"/>
              </a:spcBef>
              <a:spcAft>
                <a:spcPts val="0"/>
              </a:spcAft>
              <a:buClr>
                <a:srgbClr val="323232"/>
              </a:buClr>
              <a:buSzPts val="1400"/>
              <a:buFont typeface="Open Sans"/>
              <a:buChar char="●"/>
            </a:pPr>
            <a:r>
              <a:rPr lang="de" sz="1400">
                <a:solidFill>
                  <a:srgbClr val="323232"/>
                </a:solidFill>
                <a:highlight>
                  <a:srgbClr val="FFFFFF"/>
                </a:highlight>
                <a:latin typeface="Open Sans"/>
                <a:ea typeface="Open Sans"/>
                <a:cs typeface="Open Sans"/>
                <a:sym typeface="Open Sans"/>
              </a:rPr>
              <a:t>API rate limits when we needed large amounts of data </a:t>
            </a:r>
            <a:endParaRPr sz="1400">
              <a:solidFill>
                <a:srgbClr val="323232"/>
              </a:solidFill>
              <a:highlight>
                <a:srgbClr val="FFFFFF"/>
              </a:highlight>
              <a:latin typeface="Open Sans"/>
              <a:ea typeface="Open Sans"/>
              <a:cs typeface="Open Sans"/>
              <a:sym typeface="Open Sans"/>
            </a:endParaRPr>
          </a:p>
          <a:p>
            <a:pPr indent="-317500" lvl="1" marL="914400" marR="2921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23232"/>
              </a:buClr>
              <a:buSzPts val="1400"/>
              <a:buFont typeface="Open Sans"/>
              <a:buChar char="○"/>
            </a:pPr>
            <a:r>
              <a:rPr lang="de" sz="1400">
                <a:solidFill>
                  <a:srgbClr val="323232"/>
                </a:solidFill>
                <a:highlight>
                  <a:srgbClr val="FFFFFF"/>
                </a:highlight>
                <a:latin typeface="Open Sans"/>
                <a:ea typeface="Open Sans"/>
                <a:cs typeface="Open Sans"/>
                <a:sym typeface="Open Sans"/>
              </a:rPr>
              <a:t>Request data in batches, add explicit wait timers</a:t>
            </a:r>
            <a:endParaRPr sz="1400">
              <a:solidFill>
                <a:srgbClr val="323232"/>
              </a:solidFill>
              <a:highlight>
                <a:srgbClr val="FFFFFF"/>
              </a:highlight>
              <a:latin typeface="Open Sans"/>
              <a:ea typeface="Open Sans"/>
              <a:cs typeface="Open Sans"/>
              <a:sym typeface="Open Sans"/>
            </a:endParaRPr>
          </a:p>
          <a:p>
            <a:pPr indent="-317500" lvl="0" marL="457200" marR="2921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23232"/>
              </a:buClr>
              <a:buSzPts val="1400"/>
              <a:buFont typeface="Open Sans"/>
              <a:buChar char="●"/>
            </a:pPr>
            <a:r>
              <a:rPr lang="de" sz="1400">
                <a:solidFill>
                  <a:srgbClr val="323232"/>
                </a:solidFill>
                <a:highlight>
                  <a:srgbClr val="FFFFFF"/>
                </a:highlight>
                <a:latin typeface="Open Sans"/>
                <a:ea typeface="Open Sans"/>
                <a:cs typeface="Open Sans"/>
                <a:sym typeface="Open Sans"/>
              </a:rPr>
              <a:t>Missing data from monitoring stations for certain pollutants</a:t>
            </a:r>
            <a:endParaRPr sz="1400">
              <a:solidFill>
                <a:srgbClr val="323232"/>
              </a:solidFill>
              <a:highlight>
                <a:srgbClr val="FFFFFF"/>
              </a:highlight>
              <a:latin typeface="Open Sans"/>
              <a:ea typeface="Open Sans"/>
              <a:cs typeface="Open Sans"/>
              <a:sym typeface="Open Sans"/>
            </a:endParaRPr>
          </a:p>
          <a:p>
            <a:pPr indent="-317500" lvl="1" marL="914400" marR="2921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23232"/>
              </a:buClr>
              <a:buSzPts val="1400"/>
              <a:buFont typeface="Open Sans"/>
              <a:buChar char="○"/>
            </a:pPr>
            <a:r>
              <a:rPr lang="de" sz="1400">
                <a:solidFill>
                  <a:srgbClr val="323232"/>
                </a:solidFill>
                <a:highlight>
                  <a:srgbClr val="FFFFFF"/>
                </a:highlight>
                <a:latin typeface="Open Sans"/>
                <a:ea typeface="Open Sans"/>
                <a:cs typeface="Open Sans"/>
                <a:sym typeface="Open Sans"/>
              </a:rPr>
              <a:t>Case by case basis, sometimes mark missing data</a:t>
            </a:r>
            <a:endParaRPr sz="1400">
              <a:solidFill>
                <a:srgbClr val="323232"/>
              </a:solidFill>
              <a:highlight>
                <a:srgbClr val="FFFFFF"/>
              </a:highlight>
              <a:latin typeface="Open Sans"/>
              <a:ea typeface="Open Sans"/>
              <a:cs typeface="Open Sans"/>
              <a:sym typeface="Open Sans"/>
            </a:endParaRPr>
          </a:p>
          <a:p>
            <a:pPr indent="-317500" lvl="0" marL="457200" marR="2921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23232"/>
              </a:buClr>
              <a:buSzPts val="1400"/>
              <a:buFont typeface="Open Sans"/>
              <a:buChar char="●"/>
            </a:pPr>
            <a:r>
              <a:rPr lang="de" sz="1400">
                <a:solidFill>
                  <a:srgbClr val="323232"/>
                </a:solidFill>
                <a:highlight>
                  <a:srgbClr val="FFFFFF"/>
                </a:highlight>
                <a:latin typeface="Open Sans"/>
                <a:ea typeface="Open Sans"/>
                <a:cs typeface="Open Sans"/>
                <a:sym typeface="Open Sans"/>
              </a:rPr>
              <a:t>Styling the website with dash </a:t>
            </a:r>
            <a:endParaRPr sz="1400">
              <a:solidFill>
                <a:srgbClr val="323232"/>
              </a:solidFill>
              <a:highlight>
                <a:srgbClr val="FFFFFF"/>
              </a:highlight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marR="29210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rgbClr val="323232"/>
              </a:solidFill>
              <a:highlight>
                <a:srgbClr val="FFFFFF"/>
              </a:highlight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marR="29210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rgbClr val="323232"/>
              </a:solidFill>
              <a:highlight>
                <a:srgbClr val="FFFFFF"/>
              </a:highlight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marR="29210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rgbClr val="323232"/>
              </a:solidFill>
              <a:highlight>
                <a:srgbClr val="FFFFFF"/>
              </a:highlight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rgbClr val="323232"/>
              </a:solidFill>
              <a:highlight>
                <a:schemeClr val="dk1"/>
              </a:highlight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91440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400">
              <a:solidFill>
                <a:srgbClr val="323232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97" name="Google Shape;197;p23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‹#›</a:t>
            </a:fld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24"/>
          <p:cNvSpPr txBox="1"/>
          <p:nvPr>
            <p:ph type="title"/>
          </p:nvPr>
        </p:nvSpPr>
        <p:spPr>
          <a:xfrm>
            <a:off x="1888684" y="1746100"/>
            <a:ext cx="5377500" cy="1646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de" sz="3600"/>
              <a:t>Research </a:t>
            </a:r>
            <a:r>
              <a:rPr lang="de"/>
              <a:t>Questions</a:t>
            </a:r>
            <a:endParaRPr/>
          </a:p>
        </p:txBody>
      </p:sp>
      <p:sp>
        <p:nvSpPr>
          <p:cNvPr id="203" name="Google Shape;203;p24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‹#›</a:t>
            </a:fld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25"/>
          <p:cNvSpPr txBox="1"/>
          <p:nvPr>
            <p:ph type="title"/>
          </p:nvPr>
        </p:nvSpPr>
        <p:spPr>
          <a:xfrm>
            <a:off x="819150" y="677075"/>
            <a:ext cx="7978800" cy="9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de" sz="3200"/>
              <a:t>Research Questions - Trends in Germany</a:t>
            </a:r>
            <a:endParaRPr sz="3200"/>
          </a:p>
        </p:txBody>
      </p:sp>
      <p:sp>
        <p:nvSpPr>
          <p:cNvPr id="209" name="Google Shape;209;p25"/>
          <p:cNvSpPr txBox="1"/>
          <p:nvPr>
            <p:ph idx="1" type="body"/>
          </p:nvPr>
        </p:nvSpPr>
        <p:spPr>
          <a:xfrm>
            <a:off x="819150" y="1351500"/>
            <a:ext cx="7745100" cy="43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3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de" sz="1400">
                <a:solidFill>
                  <a:srgbClr val="323232"/>
                </a:solidFill>
                <a:highlight>
                  <a:srgbClr val="FFFFFF"/>
                </a:highlight>
                <a:latin typeface="Open Sans"/>
                <a:ea typeface="Open Sans"/>
                <a:cs typeface="Open Sans"/>
                <a:sym typeface="Open Sans"/>
              </a:rPr>
              <a:t>How did the average values of PM₁₀, PM₂.₅ and NO₂ change in Germany?</a:t>
            </a:r>
            <a:endParaRPr sz="1400">
              <a:solidFill>
                <a:srgbClr val="323232"/>
              </a:solidFill>
              <a:highlight>
                <a:srgbClr val="FFFFFF"/>
              </a:highlight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lnSpc>
                <a:spcPct val="13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rgbClr val="323232"/>
              </a:solidFill>
              <a:highlight>
                <a:srgbClr val="FFFFFF"/>
              </a:highlight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marR="292100" rtl="0" algn="l"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rgbClr val="323232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marR="29210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rgbClr val="323232"/>
              </a:solidFill>
              <a:highlight>
                <a:srgbClr val="FFFFFF"/>
              </a:highlight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marR="29210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rgbClr val="323232"/>
              </a:solidFill>
              <a:highlight>
                <a:srgbClr val="FFFFFF"/>
              </a:highlight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marR="29210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rgbClr val="323232"/>
              </a:solidFill>
              <a:highlight>
                <a:srgbClr val="FFFFFF"/>
              </a:highlight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rgbClr val="323232"/>
              </a:solidFill>
              <a:highlight>
                <a:schemeClr val="dk1"/>
              </a:highlight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91440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400">
              <a:solidFill>
                <a:srgbClr val="323232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10" name="Google Shape;210;p25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‹#›</a:t>
            </a:fld>
            <a:endParaRPr/>
          </a:p>
        </p:txBody>
      </p:sp>
      <p:sp>
        <p:nvSpPr>
          <p:cNvPr id="211" name="Google Shape;211;p25"/>
          <p:cNvSpPr txBox="1"/>
          <p:nvPr>
            <p:ph idx="1" type="body"/>
          </p:nvPr>
        </p:nvSpPr>
        <p:spPr>
          <a:xfrm>
            <a:off x="819150" y="4084250"/>
            <a:ext cx="7745100" cy="62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marR="292100" rtl="0" algn="l">
              <a:spcBef>
                <a:spcPts val="800"/>
              </a:spcBef>
              <a:spcAft>
                <a:spcPts val="0"/>
              </a:spcAft>
              <a:buClr>
                <a:srgbClr val="323232"/>
              </a:buClr>
              <a:buSzPts val="1400"/>
              <a:buFont typeface="Open Sans"/>
              <a:buChar char="●"/>
            </a:pPr>
            <a:r>
              <a:rPr lang="de" sz="1500">
                <a:solidFill>
                  <a:srgbClr val="292929"/>
                </a:solidFill>
                <a:highlight>
                  <a:srgbClr val="FFFFFF"/>
                </a:highlight>
                <a:latin typeface="Open Sans"/>
                <a:ea typeface="Open Sans"/>
                <a:cs typeface="Open Sans"/>
                <a:sym typeface="Open Sans"/>
              </a:rPr>
              <a:t>A slight decrease in fine dust and a significant decrease in NO₂ suggest that air quality has improved over the past 10 years</a:t>
            </a:r>
            <a:endParaRPr sz="1400">
              <a:solidFill>
                <a:srgbClr val="323232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457200" marR="292100" rtl="0" algn="l"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rgbClr val="323232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marR="29210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rgbClr val="323232"/>
              </a:solidFill>
              <a:highlight>
                <a:srgbClr val="FFFFFF"/>
              </a:highlight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marR="29210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rgbClr val="323232"/>
              </a:solidFill>
              <a:highlight>
                <a:srgbClr val="FFFFFF"/>
              </a:highlight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marR="29210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rgbClr val="323232"/>
              </a:solidFill>
              <a:highlight>
                <a:srgbClr val="FFFFFF"/>
              </a:highlight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rgbClr val="323232"/>
              </a:solidFill>
              <a:highlight>
                <a:schemeClr val="dk1"/>
              </a:highlight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91440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400">
              <a:solidFill>
                <a:srgbClr val="323232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pic>
        <p:nvPicPr>
          <p:cNvPr id="212" name="Google Shape;212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19150" y="1828300"/>
            <a:ext cx="7047976" cy="22103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26"/>
          <p:cNvSpPr txBox="1"/>
          <p:nvPr>
            <p:ph type="title"/>
          </p:nvPr>
        </p:nvSpPr>
        <p:spPr>
          <a:xfrm>
            <a:off x="819150" y="677075"/>
            <a:ext cx="7505700" cy="9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de" sz="3200"/>
              <a:t>Research Questions - New Years</a:t>
            </a:r>
            <a:endParaRPr sz="3200"/>
          </a:p>
        </p:txBody>
      </p:sp>
      <p:sp>
        <p:nvSpPr>
          <p:cNvPr id="218" name="Google Shape;218;p26"/>
          <p:cNvSpPr txBox="1"/>
          <p:nvPr>
            <p:ph idx="1" type="body"/>
          </p:nvPr>
        </p:nvSpPr>
        <p:spPr>
          <a:xfrm>
            <a:off x="819150" y="1351500"/>
            <a:ext cx="7745100" cy="62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3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de" sz="1400">
                <a:solidFill>
                  <a:srgbClr val="323232"/>
                </a:solidFill>
                <a:highlight>
                  <a:srgbClr val="FFFFFF"/>
                </a:highlight>
                <a:latin typeface="Open Sans"/>
                <a:ea typeface="Open Sans"/>
                <a:cs typeface="Open Sans"/>
                <a:sym typeface="Open Sans"/>
              </a:rPr>
              <a:t>How does air pollution in Germany behave around New Years?</a:t>
            </a:r>
            <a:endParaRPr sz="1400">
              <a:solidFill>
                <a:srgbClr val="323232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marR="29210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rgbClr val="323232"/>
              </a:solidFill>
              <a:highlight>
                <a:srgbClr val="FFFFFF"/>
              </a:highlight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marR="29210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rgbClr val="323232"/>
              </a:solidFill>
              <a:highlight>
                <a:srgbClr val="FFFFFF"/>
              </a:highlight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marR="29210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rgbClr val="323232"/>
              </a:solidFill>
              <a:highlight>
                <a:srgbClr val="FFFFFF"/>
              </a:highlight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rgbClr val="323232"/>
              </a:solidFill>
              <a:highlight>
                <a:schemeClr val="dk1"/>
              </a:highlight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91440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400">
              <a:solidFill>
                <a:srgbClr val="323232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19" name="Google Shape;219;p26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‹#›</a:t>
            </a:fld>
            <a:endParaRPr/>
          </a:p>
        </p:txBody>
      </p:sp>
      <p:sp>
        <p:nvSpPr>
          <p:cNvPr id="220" name="Google Shape;220;p26"/>
          <p:cNvSpPr txBox="1"/>
          <p:nvPr>
            <p:ph idx="1" type="body"/>
          </p:nvPr>
        </p:nvSpPr>
        <p:spPr>
          <a:xfrm>
            <a:off x="819150" y="4084225"/>
            <a:ext cx="7745100" cy="62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marR="292100" rtl="0" algn="l">
              <a:spcBef>
                <a:spcPts val="800"/>
              </a:spcBef>
              <a:spcAft>
                <a:spcPts val="0"/>
              </a:spcAft>
              <a:buClr>
                <a:srgbClr val="323232"/>
              </a:buClr>
              <a:buSzPts val="1400"/>
              <a:buFont typeface="Open Sans"/>
              <a:buChar char="●"/>
            </a:pPr>
            <a:r>
              <a:rPr lang="de" sz="1400">
                <a:solidFill>
                  <a:srgbClr val="292929"/>
                </a:solidFill>
                <a:highlight>
                  <a:srgbClr val="FFFFFF"/>
                </a:highlight>
                <a:latin typeface="Open Sans"/>
                <a:ea typeface="Open Sans"/>
                <a:cs typeface="Open Sans"/>
                <a:sym typeface="Open Sans"/>
              </a:rPr>
              <a:t>Significant spikes in </a:t>
            </a:r>
            <a:r>
              <a:rPr lang="de" sz="1400">
                <a:solidFill>
                  <a:srgbClr val="323232"/>
                </a:solidFill>
                <a:highlight>
                  <a:srgbClr val="FFFFFF"/>
                </a:highlight>
                <a:latin typeface="Open Sans"/>
                <a:ea typeface="Open Sans"/>
                <a:cs typeface="Open Sans"/>
                <a:sym typeface="Open Sans"/>
              </a:rPr>
              <a:t>PM</a:t>
            </a:r>
            <a:r>
              <a:rPr baseline="-25000" lang="de" sz="1400">
                <a:solidFill>
                  <a:srgbClr val="323232"/>
                </a:solidFill>
                <a:highlight>
                  <a:srgbClr val="FFFFFF"/>
                </a:highlight>
                <a:latin typeface="Open Sans"/>
                <a:ea typeface="Open Sans"/>
                <a:cs typeface="Open Sans"/>
                <a:sym typeface="Open Sans"/>
              </a:rPr>
              <a:t>10</a:t>
            </a:r>
            <a:r>
              <a:rPr lang="de" sz="1400">
                <a:solidFill>
                  <a:srgbClr val="323232"/>
                </a:solidFill>
                <a:highlight>
                  <a:srgbClr val="FFFFFF"/>
                </a:highlight>
                <a:latin typeface="Open Sans"/>
                <a:ea typeface="Open Sans"/>
                <a:cs typeface="Open Sans"/>
                <a:sym typeface="Open Sans"/>
              </a:rPr>
              <a:t> and PM</a:t>
            </a:r>
            <a:r>
              <a:rPr baseline="-25000" lang="de" sz="1400">
                <a:solidFill>
                  <a:srgbClr val="323232"/>
                </a:solidFill>
                <a:highlight>
                  <a:srgbClr val="FFFFFF"/>
                </a:highlight>
                <a:latin typeface="Open Sans"/>
                <a:ea typeface="Open Sans"/>
                <a:cs typeface="Open Sans"/>
                <a:sym typeface="Open Sans"/>
              </a:rPr>
              <a:t>2.5</a:t>
            </a:r>
            <a:r>
              <a:rPr lang="de" sz="1400">
                <a:solidFill>
                  <a:srgbClr val="292929"/>
                </a:solidFill>
                <a:highlight>
                  <a:srgbClr val="FFFFFF"/>
                </a:highlight>
                <a:latin typeface="Open Sans"/>
                <a:ea typeface="Open Sans"/>
                <a:cs typeface="Open Sans"/>
                <a:sym typeface="Open Sans"/>
              </a:rPr>
              <a:t> (especially on January 1 due to fireworks), while NO₂ was only slightly higher than the annual average</a:t>
            </a:r>
            <a:endParaRPr sz="1400">
              <a:solidFill>
                <a:srgbClr val="323232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457200" marR="292100" rtl="0" algn="l"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rgbClr val="323232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marR="29210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rgbClr val="323232"/>
              </a:solidFill>
              <a:highlight>
                <a:srgbClr val="FFFFFF"/>
              </a:highlight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marR="29210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rgbClr val="323232"/>
              </a:solidFill>
              <a:highlight>
                <a:srgbClr val="FFFFFF"/>
              </a:highlight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marR="29210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rgbClr val="323232"/>
              </a:solidFill>
              <a:highlight>
                <a:srgbClr val="FFFFFF"/>
              </a:highlight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rgbClr val="323232"/>
              </a:solidFill>
              <a:highlight>
                <a:schemeClr val="dk1"/>
              </a:highlight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91440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400">
              <a:solidFill>
                <a:srgbClr val="323232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pic>
        <p:nvPicPr>
          <p:cNvPr id="221" name="Google Shape;221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19150" y="2160275"/>
            <a:ext cx="3309118" cy="17994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2" name="Google Shape;222;p2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876318" y="2160275"/>
            <a:ext cx="3448542" cy="17994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27"/>
          <p:cNvSpPr txBox="1"/>
          <p:nvPr>
            <p:ph type="title"/>
          </p:nvPr>
        </p:nvSpPr>
        <p:spPr>
          <a:xfrm>
            <a:off x="819150" y="677075"/>
            <a:ext cx="7505700" cy="9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de" sz="3200"/>
              <a:t>Research Questions - COVID-19</a:t>
            </a:r>
            <a:endParaRPr sz="3200"/>
          </a:p>
        </p:txBody>
      </p:sp>
      <p:sp>
        <p:nvSpPr>
          <p:cNvPr id="228" name="Google Shape;228;p27"/>
          <p:cNvSpPr txBox="1"/>
          <p:nvPr>
            <p:ph idx="1" type="body"/>
          </p:nvPr>
        </p:nvSpPr>
        <p:spPr>
          <a:xfrm>
            <a:off x="819150" y="1351500"/>
            <a:ext cx="7745100" cy="62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3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de" sz="1400">
                <a:solidFill>
                  <a:srgbClr val="323232"/>
                </a:solidFill>
                <a:highlight>
                  <a:srgbClr val="FFFFFF"/>
                </a:highlight>
                <a:latin typeface="Open Sans"/>
                <a:ea typeface="Open Sans"/>
                <a:cs typeface="Open Sans"/>
                <a:sym typeface="Open Sans"/>
              </a:rPr>
              <a:t>How did COVID-19 lockdowns and restrictions affect air pollution in Germany compared to    the previous and following years?</a:t>
            </a:r>
            <a:endParaRPr sz="1400">
              <a:solidFill>
                <a:srgbClr val="323232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marR="29210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rgbClr val="323232"/>
              </a:solidFill>
              <a:highlight>
                <a:srgbClr val="FFFFFF"/>
              </a:highlight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marR="29210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rgbClr val="323232"/>
              </a:solidFill>
              <a:highlight>
                <a:srgbClr val="FFFFFF"/>
              </a:highlight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marR="29210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rgbClr val="323232"/>
              </a:solidFill>
              <a:highlight>
                <a:srgbClr val="FFFFFF"/>
              </a:highlight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rgbClr val="323232"/>
              </a:solidFill>
              <a:highlight>
                <a:schemeClr val="dk1"/>
              </a:highlight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91440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400">
              <a:solidFill>
                <a:srgbClr val="323232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29" name="Google Shape;229;p27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‹#›</a:t>
            </a:fld>
            <a:endParaRPr/>
          </a:p>
        </p:txBody>
      </p:sp>
      <p:sp>
        <p:nvSpPr>
          <p:cNvPr id="230" name="Google Shape;230;p27"/>
          <p:cNvSpPr txBox="1"/>
          <p:nvPr>
            <p:ph idx="1" type="body"/>
          </p:nvPr>
        </p:nvSpPr>
        <p:spPr>
          <a:xfrm>
            <a:off x="819150" y="4084250"/>
            <a:ext cx="7745100" cy="62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marR="292100" rtl="0" algn="l">
              <a:spcBef>
                <a:spcPts val="800"/>
              </a:spcBef>
              <a:spcAft>
                <a:spcPts val="0"/>
              </a:spcAft>
              <a:buClr>
                <a:srgbClr val="323232"/>
              </a:buClr>
              <a:buSzPts val="1400"/>
              <a:buFont typeface="Open Sans"/>
              <a:buChar char="●"/>
            </a:pPr>
            <a:r>
              <a:rPr lang="de" sz="1400">
                <a:solidFill>
                  <a:srgbClr val="292929"/>
                </a:solidFill>
                <a:highlight>
                  <a:srgbClr val="FFFFFF"/>
                </a:highlight>
                <a:latin typeface="Open Sans"/>
                <a:ea typeface="Open Sans"/>
                <a:cs typeface="Open Sans"/>
                <a:sym typeface="Open Sans"/>
              </a:rPr>
              <a:t>There are hardly any noticeable differences between the COVID and non-COVID periods, as the distributions and median values of the pollutants largely overlap</a:t>
            </a:r>
            <a:endParaRPr sz="1400">
              <a:solidFill>
                <a:srgbClr val="323232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457200" marR="292100" rtl="0" algn="l"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rgbClr val="323232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marR="29210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rgbClr val="323232"/>
              </a:solidFill>
              <a:highlight>
                <a:srgbClr val="FFFFFF"/>
              </a:highlight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marR="29210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rgbClr val="323232"/>
              </a:solidFill>
              <a:highlight>
                <a:srgbClr val="FFFFFF"/>
              </a:highlight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marR="29210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rgbClr val="323232"/>
              </a:solidFill>
              <a:highlight>
                <a:srgbClr val="FFFFFF"/>
              </a:highlight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rgbClr val="323232"/>
              </a:solidFill>
              <a:highlight>
                <a:schemeClr val="dk1"/>
              </a:highlight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91440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400">
              <a:solidFill>
                <a:srgbClr val="323232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pic>
        <p:nvPicPr>
          <p:cNvPr id="231" name="Google Shape;231;p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46738" y="1980000"/>
            <a:ext cx="6450524" cy="2169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28"/>
          <p:cNvSpPr txBox="1"/>
          <p:nvPr>
            <p:ph type="title"/>
          </p:nvPr>
        </p:nvSpPr>
        <p:spPr>
          <a:xfrm>
            <a:off x="819150" y="677075"/>
            <a:ext cx="7505700" cy="9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de" sz="3200"/>
              <a:t>Research Questions - Weather</a:t>
            </a:r>
            <a:endParaRPr sz="3200"/>
          </a:p>
        </p:txBody>
      </p:sp>
      <p:sp>
        <p:nvSpPr>
          <p:cNvPr id="237" name="Google Shape;237;p28"/>
          <p:cNvSpPr txBox="1"/>
          <p:nvPr>
            <p:ph idx="1" type="body"/>
          </p:nvPr>
        </p:nvSpPr>
        <p:spPr>
          <a:xfrm>
            <a:off x="819150" y="1351500"/>
            <a:ext cx="7745100" cy="62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29210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lang="de" sz="1400">
                <a:solidFill>
                  <a:srgbClr val="323232"/>
                </a:solidFill>
                <a:highlight>
                  <a:schemeClr val="dk1"/>
                </a:highlight>
                <a:latin typeface="Open Sans"/>
                <a:ea typeface="Open Sans"/>
                <a:cs typeface="Open Sans"/>
                <a:sym typeface="Open Sans"/>
              </a:rPr>
              <a:t>How did temperature and precipitation influence PM₁₀ and PM₂.₅ concentrations in major German cities between 2016 and 2025?</a:t>
            </a:r>
            <a:endParaRPr sz="1400">
              <a:solidFill>
                <a:srgbClr val="323232"/>
              </a:solidFill>
              <a:highlight>
                <a:srgbClr val="FFFFFF"/>
              </a:highlight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marR="29210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rgbClr val="323232"/>
              </a:solidFill>
              <a:highlight>
                <a:srgbClr val="FFFFFF"/>
              </a:highlight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marR="29210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rgbClr val="323232"/>
              </a:solidFill>
              <a:highlight>
                <a:srgbClr val="FFFFFF"/>
              </a:highlight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marR="29210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rgbClr val="323232"/>
              </a:solidFill>
              <a:highlight>
                <a:srgbClr val="FFFFFF"/>
              </a:highlight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rgbClr val="323232"/>
              </a:solidFill>
              <a:highlight>
                <a:schemeClr val="dk1"/>
              </a:highlight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91440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400">
              <a:solidFill>
                <a:srgbClr val="323232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38" name="Google Shape;238;p28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‹#›</a:t>
            </a:fld>
            <a:endParaRPr/>
          </a:p>
        </p:txBody>
      </p:sp>
      <p:sp>
        <p:nvSpPr>
          <p:cNvPr id="239" name="Google Shape;239;p28"/>
          <p:cNvSpPr txBox="1"/>
          <p:nvPr>
            <p:ph idx="1" type="body"/>
          </p:nvPr>
        </p:nvSpPr>
        <p:spPr>
          <a:xfrm>
            <a:off x="819150" y="4084250"/>
            <a:ext cx="7745100" cy="62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marR="292100" rtl="0" algn="l">
              <a:spcBef>
                <a:spcPts val="800"/>
              </a:spcBef>
              <a:spcAft>
                <a:spcPts val="0"/>
              </a:spcAft>
              <a:buClr>
                <a:srgbClr val="323232"/>
              </a:buClr>
              <a:buSzPts val="1400"/>
              <a:buFont typeface="Open Sans"/>
              <a:buChar char="●"/>
            </a:pPr>
            <a:r>
              <a:rPr lang="de" sz="1400">
                <a:solidFill>
                  <a:srgbClr val="323232"/>
                </a:solidFill>
                <a:latin typeface="Open Sans"/>
                <a:ea typeface="Open Sans"/>
                <a:cs typeface="Open Sans"/>
                <a:sym typeface="Open Sans"/>
              </a:rPr>
              <a:t>Peak temperature and precipitation seem to have no impact on air pollution</a:t>
            </a:r>
            <a:endParaRPr sz="1400">
              <a:solidFill>
                <a:srgbClr val="323232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457200" marR="292100" rtl="0" algn="l"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rgbClr val="323232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marR="29210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rgbClr val="323232"/>
              </a:solidFill>
              <a:highlight>
                <a:srgbClr val="FFFFFF"/>
              </a:highlight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marR="29210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rgbClr val="323232"/>
              </a:solidFill>
              <a:highlight>
                <a:srgbClr val="FFFFFF"/>
              </a:highlight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marR="29210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rgbClr val="323232"/>
              </a:solidFill>
              <a:highlight>
                <a:srgbClr val="FFFFFF"/>
              </a:highlight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rgbClr val="323232"/>
              </a:solidFill>
              <a:highlight>
                <a:schemeClr val="dk1"/>
              </a:highlight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91440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400">
              <a:solidFill>
                <a:srgbClr val="323232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pic>
        <p:nvPicPr>
          <p:cNvPr id="240" name="Google Shape;240;p28" title="Screenshot 2026-03-19 175555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9207" y="2020013"/>
            <a:ext cx="8505582" cy="193783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p29"/>
          <p:cNvSpPr txBox="1"/>
          <p:nvPr>
            <p:ph type="title"/>
          </p:nvPr>
        </p:nvSpPr>
        <p:spPr>
          <a:xfrm>
            <a:off x="819150" y="677075"/>
            <a:ext cx="7505700" cy="9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de" sz="3200"/>
              <a:t>Research Questions - Seasons</a:t>
            </a:r>
            <a:endParaRPr sz="3200"/>
          </a:p>
        </p:txBody>
      </p:sp>
      <p:sp>
        <p:nvSpPr>
          <p:cNvPr id="246" name="Google Shape;246;p29"/>
          <p:cNvSpPr txBox="1"/>
          <p:nvPr>
            <p:ph idx="1" type="body"/>
          </p:nvPr>
        </p:nvSpPr>
        <p:spPr>
          <a:xfrm>
            <a:off x="819150" y="1351500"/>
            <a:ext cx="7745100" cy="62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29210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lang="de" sz="1400">
                <a:solidFill>
                  <a:srgbClr val="323232"/>
                </a:solidFill>
                <a:latin typeface="Open Sans"/>
                <a:ea typeface="Open Sans"/>
                <a:cs typeface="Open Sans"/>
                <a:sym typeface="Open Sans"/>
              </a:rPr>
              <a:t>How do seasonal changes influence the pollution concentrations in Germany between 2016 and 2025?</a:t>
            </a:r>
            <a:endParaRPr sz="1400">
              <a:solidFill>
                <a:srgbClr val="323232"/>
              </a:solidFill>
              <a:highlight>
                <a:srgbClr val="FFFFFF"/>
              </a:highlight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marR="29210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rgbClr val="323232"/>
              </a:solidFill>
              <a:highlight>
                <a:srgbClr val="FFFFFF"/>
              </a:highlight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marR="29210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rgbClr val="323232"/>
              </a:solidFill>
              <a:highlight>
                <a:srgbClr val="FFFFFF"/>
              </a:highlight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marR="29210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rgbClr val="323232"/>
              </a:solidFill>
              <a:highlight>
                <a:srgbClr val="FFFFFF"/>
              </a:highlight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rgbClr val="323232"/>
              </a:solidFill>
              <a:highlight>
                <a:schemeClr val="dk1"/>
              </a:highlight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91440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400">
              <a:solidFill>
                <a:srgbClr val="323232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47" name="Google Shape;247;p29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‹#›</a:t>
            </a:fld>
            <a:endParaRPr/>
          </a:p>
        </p:txBody>
      </p:sp>
      <p:pic>
        <p:nvPicPr>
          <p:cNvPr id="248" name="Google Shape;248;p29" title="seasons_1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52000" y="1980000"/>
            <a:ext cx="4320001" cy="2160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49" name="Google Shape;249;p29" title="seasons_2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511700" y="1980000"/>
            <a:ext cx="4320001" cy="2160000"/>
          </a:xfrm>
          <a:prstGeom prst="rect">
            <a:avLst/>
          </a:prstGeom>
          <a:noFill/>
          <a:ln>
            <a:noFill/>
          </a:ln>
        </p:spPr>
      </p:pic>
      <p:sp>
        <p:nvSpPr>
          <p:cNvPr id="250" name="Google Shape;250;p29"/>
          <p:cNvSpPr txBox="1"/>
          <p:nvPr>
            <p:ph idx="1" type="body"/>
          </p:nvPr>
        </p:nvSpPr>
        <p:spPr>
          <a:xfrm>
            <a:off x="819150" y="4084250"/>
            <a:ext cx="7745100" cy="62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marR="292100" rtl="0" algn="l">
              <a:spcBef>
                <a:spcPts val="800"/>
              </a:spcBef>
              <a:spcAft>
                <a:spcPts val="0"/>
              </a:spcAft>
              <a:buClr>
                <a:srgbClr val="323232"/>
              </a:buClr>
              <a:buSzPts val="1400"/>
              <a:buFont typeface="Open Sans"/>
              <a:buChar char="●"/>
            </a:pPr>
            <a:r>
              <a:rPr lang="de" sz="1400">
                <a:solidFill>
                  <a:srgbClr val="323232"/>
                </a:solidFill>
                <a:latin typeface="Open Sans"/>
                <a:ea typeface="Open Sans"/>
                <a:cs typeface="Open Sans"/>
                <a:sym typeface="Open Sans"/>
              </a:rPr>
              <a:t>Winter consistently more polluted, summer relatively clean</a:t>
            </a:r>
            <a:endParaRPr sz="1400">
              <a:solidFill>
                <a:srgbClr val="323232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457200" marR="292100" rtl="0" algn="l"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rgbClr val="323232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marR="29210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rgbClr val="323232"/>
              </a:solidFill>
              <a:highlight>
                <a:srgbClr val="FFFFFF"/>
              </a:highlight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marR="29210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rgbClr val="323232"/>
              </a:solidFill>
              <a:highlight>
                <a:srgbClr val="FFFFFF"/>
              </a:highlight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marR="29210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rgbClr val="323232"/>
              </a:solidFill>
              <a:highlight>
                <a:srgbClr val="FFFFFF"/>
              </a:highlight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rgbClr val="323232"/>
              </a:solidFill>
              <a:highlight>
                <a:schemeClr val="dk1"/>
              </a:highlight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91440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400">
              <a:solidFill>
                <a:srgbClr val="323232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4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p30"/>
          <p:cNvSpPr txBox="1"/>
          <p:nvPr>
            <p:ph type="title"/>
          </p:nvPr>
        </p:nvSpPr>
        <p:spPr>
          <a:xfrm>
            <a:off x="819150" y="677075"/>
            <a:ext cx="7505700" cy="9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de" sz="3200"/>
              <a:t>Research Questions - Holidays</a:t>
            </a:r>
            <a:endParaRPr sz="3200"/>
          </a:p>
        </p:txBody>
      </p:sp>
      <p:sp>
        <p:nvSpPr>
          <p:cNvPr id="256" name="Google Shape;256;p30"/>
          <p:cNvSpPr txBox="1"/>
          <p:nvPr>
            <p:ph idx="1" type="body"/>
          </p:nvPr>
        </p:nvSpPr>
        <p:spPr>
          <a:xfrm>
            <a:off x="819150" y="1351500"/>
            <a:ext cx="7745100" cy="62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29210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lang="de" sz="1400">
                <a:solidFill>
                  <a:srgbClr val="323232"/>
                </a:solidFill>
                <a:highlight>
                  <a:schemeClr val="dk1"/>
                </a:highlight>
                <a:latin typeface="Open Sans"/>
                <a:ea typeface="Open Sans"/>
                <a:cs typeface="Open Sans"/>
                <a:sym typeface="Open Sans"/>
              </a:rPr>
              <a:t>How did summer school holidays in German federal states affect PM₁₀ and PM₂.₅ concentrations over the past ten years?</a:t>
            </a:r>
            <a:endParaRPr sz="1400">
              <a:solidFill>
                <a:srgbClr val="323232"/>
              </a:solidFill>
              <a:highlight>
                <a:srgbClr val="FFFFFF"/>
              </a:highlight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marR="29210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rgbClr val="323232"/>
              </a:solidFill>
              <a:highlight>
                <a:srgbClr val="FFFFFF"/>
              </a:highlight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marR="29210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rgbClr val="323232"/>
              </a:solidFill>
              <a:highlight>
                <a:srgbClr val="FFFFFF"/>
              </a:highlight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marR="29210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rgbClr val="323232"/>
              </a:solidFill>
              <a:highlight>
                <a:srgbClr val="FFFFFF"/>
              </a:highlight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rgbClr val="323232"/>
              </a:solidFill>
              <a:highlight>
                <a:schemeClr val="dk1"/>
              </a:highlight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91440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400">
              <a:solidFill>
                <a:srgbClr val="323232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57" name="Google Shape;257;p30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‹#›</a:t>
            </a:fld>
            <a:endParaRPr/>
          </a:p>
        </p:txBody>
      </p:sp>
      <p:sp>
        <p:nvSpPr>
          <p:cNvPr id="258" name="Google Shape;258;p30"/>
          <p:cNvSpPr txBox="1"/>
          <p:nvPr>
            <p:ph idx="1" type="body"/>
          </p:nvPr>
        </p:nvSpPr>
        <p:spPr>
          <a:xfrm>
            <a:off x="819150" y="4084250"/>
            <a:ext cx="7745100" cy="62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marR="292100" rtl="0" algn="l">
              <a:spcBef>
                <a:spcPts val="800"/>
              </a:spcBef>
              <a:spcAft>
                <a:spcPts val="0"/>
              </a:spcAft>
              <a:buClr>
                <a:srgbClr val="323232"/>
              </a:buClr>
              <a:buSzPts val="1400"/>
              <a:buFont typeface="Open Sans"/>
              <a:buChar char="●"/>
            </a:pPr>
            <a:r>
              <a:rPr lang="de" sz="1400">
                <a:solidFill>
                  <a:srgbClr val="323232"/>
                </a:solidFill>
                <a:latin typeface="Open Sans"/>
                <a:ea typeface="Open Sans"/>
                <a:cs typeface="Open Sans"/>
                <a:sym typeface="Open Sans"/>
              </a:rPr>
              <a:t>School holidays consistently cleaner, suggesting people leave the country or don’t commute much / stay at home</a:t>
            </a:r>
            <a:endParaRPr sz="1400">
              <a:solidFill>
                <a:srgbClr val="323232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457200" marR="292100" rtl="0" algn="l"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rgbClr val="323232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marR="29210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rgbClr val="323232"/>
              </a:solidFill>
              <a:highlight>
                <a:srgbClr val="FFFFFF"/>
              </a:highlight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marR="29210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rgbClr val="323232"/>
              </a:solidFill>
              <a:highlight>
                <a:srgbClr val="FFFFFF"/>
              </a:highlight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marR="29210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rgbClr val="323232"/>
              </a:solidFill>
              <a:highlight>
                <a:srgbClr val="FFFFFF"/>
              </a:highlight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rgbClr val="323232"/>
              </a:solidFill>
              <a:highlight>
                <a:schemeClr val="dk1"/>
              </a:highlight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91440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400">
              <a:solidFill>
                <a:srgbClr val="323232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pic>
        <p:nvPicPr>
          <p:cNvPr id="259" name="Google Shape;259;p30" title="Screenshot 2026-03-19 121915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65050" y="2132400"/>
            <a:ext cx="8413889" cy="17994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3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p31"/>
          <p:cNvSpPr txBox="1"/>
          <p:nvPr>
            <p:ph type="title"/>
          </p:nvPr>
        </p:nvSpPr>
        <p:spPr>
          <a:xfrm>
            <a:off x="819150" y="677075"/>
            <a:ext cx="7505700" cy="9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de" sz="3200"/>
              <a:t>Research Questions - Countries</a:t>
            </a:r>
            <a:endParaRPr sz="3200"/>
          </a:p>
        </p:txBody>
      </p:sp>
      <p:sp>
        <p:nvSpPr>
          <p:cNvPr id="265" name="Google Shape;265;p31"/>
          <p:cNvSpPr txBox="1"/>
          <p:nvPr>
            <p:ph idx="1" type="body"/>
          </p:nvPr>
        </p:nvSpPr>
        <p:spPr>
          <a:xfrm>
            <a:off x="819150" y="1351500"/>
            <a:ext cx="7745100" cy="62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29210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lang="de" sz="1400">
                <a:solidFill>
                  <a:srgbClr val="323232"/>
                </a:solidFill>
                <a:highlight>
                  <a:schemeClr val="dk1"/>
                </a:highlight>
                <a:latin typeface="Open Sans"/>
                <a:ea typeface="Open Sans"/>
                <a:cs typeface="Open Sans"/>
                <a:sym typeface="Open Sans"/>
              </a:rPr>
              <a:t>How does Germany compare to other countries in terms of the average concentrations of PM₁₀, PM₂.₅, and NO₂?</a:t>
            </a:r>
            <a:endParaRPr sz="1400">
              <a:solidFill>
                <a:srgbClr val="323232"/>
              </a:solidFill>
              <a:highlight>
                <a:srgbClr val="FFFFFF"/>
              </a:highlight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marR="29210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rgbClr val="323232"/>
              </a:solidFill>
              <a:highlight>
                <a:srgbClr val="FFFFFF"/>
              </a:highlight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marR="29210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rgbClr val="323232"/>
              </a:solidFill>
              <a:highlight>
                <a:srgbClr val="FFFFFF"/>
              </a:highlight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marR="29210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rgbClr val="323232"/>
              </a:solidFill>
              <a:highlight>
                <a:srgbClr val="FFFFFF"/>
              </a:highlight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rgbClr val="323232"/>
              </a:solidFill>
              <a:highlight>
                <a:schemeClr val="dk1"/>
              </a:highlight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91440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400">
              <a:solidFill>
                <a:srgbClr val="323232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66" name="Google Shape;266;p31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‹#›</a:t>
            </a:fld>
            <a:endParaRPr/>
          </a:p>
        </p:txBody>
      </p:sp>
      <p:sp>
        <p:nvSpPr>
          <p:cNvPr id="267" name="Google Shape;267;p31"/>
          <p:cNvSpPr txBox="1"/>
          <p:nvPr>
            <p:ph idx="1" type="body"/>
          </p:nvPr>
        </p:nvSpPr>
        <p:spPr>
          <a:xfrm>
            <a:off x="439050" y="4084250"/>
            <a:ext cx="8265900" cy="62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marR="292100" rtl="0" algn="l">
              <a:spcBef>
                <a:spcPts val="800"/>
              </a:spcBef>
              <a:spcAft>
                <a:spcPts val="0"/>
              </a:spcAft>
              <a:buClr>
                <a:srgbClr val="323232"/>
              </a:buClr>
              <a:buSzPts val="1400"/>
              <a:buFont typeface="Open Sans"/>
              <a:buChar char="●"/>
            </a:pPr>
            <a:r>
              <a:rPr lang="de" sz="1400">
                <a:solidFill>
                  <a:srgbClr val="323232"/>
                </a:solidFill>
                <a:latin typeface="Open Sans"/>
                <a:ea typeface="Open Sans"/>
                <a:cs typeface="Open Sans"/>
                <a:sym typeface="Open Sans"/>
              </a:rPr>
              <a:t>In comparison, Germany’s avg. </a:t>
            </a:r>
            <a:r>
              <a:rPr lang="de" sz="1400">
                <a:solidFill>
                  <a:srgbClr val="323232"/>
                </a:solidFill>
                <a:highlight>
                  <a:schemeClr val="dk1"/>
                </a:highlight>
                <a:latin typeface="Open Sans"/>
                <a:ea typeface="Open Sans"/>
                <a:cs typeface="Open Sans"/>
                <a:sym typeface="Open Sans"/>
              </a:rPr>
              <a:t>PM₁₀ and PM₂.₅ values are below average, while the avg. NO₂ value is above average</a:t>
            </a:r>
            <a:endParaRPr sz="1400">
              <a:solidFill>
                <a:srgbClr val="323232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457200" marR="292100" rtl="0" algn="l"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rgbClr val="323232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marR="29210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rgbClr val="323232"/>
              </a:solidFill>
              <a:highlight>
                <a:srgbClr val="FFFFFF"/>
              </a:highlight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marR="29210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rgbClr val="323232"/>
              </a:solidFill>
              <a:highlight>
                <a:srgbClr val="FFFFFF"/>
              </a:highlight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marR="29210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rgbClr val="323232"/>
              </a:solidFill>
              <a:highlight>
                <a:srgbClr val="FFFFFF"/>
              </a:highlight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rgbClr val="323232"/>
              </a:solidFill>
              <a:highlight>
                <a:schemeClr val="dk1"/>
              </a:highlight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91440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400">
              <a:solidFill>
                <a:srgbClr val="323232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pic>
        <p:nvPicPr>
          <p:cNvPr id="268" name="Google Shape;268;p3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6688" y="1979988"/>
            <a:ext cx="8230620" cy="181571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2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p32"/>
          <p:cNvSpPr txBox="1"/>
          <p:nvPr>
            <p:ph type="title"/>
          </p:nvPr>
        </p:nvSpPr>
        <p:spPr>
          <a:xfrm>
            <a:off x="819150" y="677075"/>
            <a:ext cx="7505700" cy="9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de" sz="3200"/>
              <a:t>Research Questions - States</a:t>
            </a:r>
            <a:endParaRPr sz="3200"/>
          </a:p>
        </p:txBody>
      </p:sp>
      <p:sp>
        <p:nvSpPr>
          <p:cNvPr id="274" name="Google Shape;274;p32"/>
          <p:cNvSpPr txBox="1"/>
          <p:nvPr>
            <p:ph idx="1" type="body"/>
          </p:nvPr>
        </p:nvSpPr>
        <p:spPr>
          <a:xfrm>
            <a:off x="819150" y="1351500"/>
            <a:ext cx="7745100" cy="62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29210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lang="de" sz="1400">
                <a:solidFill>
                  <a:srgbClr val="323232"/>
                </a:solidFill>
                <a:highlight>
                  <a:schemeClr val="dk1"/>
                </a:highlight>
                <a:latin typeface="Open Sans"/>
                <a:ea typeface="Open Sans"/>
                <a:cs typeface="Open Sans"/>
                <a:sym typeface="Open Sans"/>
              </a:rPr>
              <a:t>How does the air quality vary between the different german federal states?</a:t>
            </a:r>
            <a:endParaRPr sz="1400">
              <a:solidFill>
                <a:srgbClr val="323232"/>
              </a:solidFill>
              <a:highlight>
                <a:srgbClr val="FFFFFF"/>
              </a:highlight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marR="29210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rgbClr val="323232"/>
              </a:solidFill>
              <a:highlight>
                <a:srgbClr val="FFFFFF"/>
              </a:highlight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marR="29210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rgbClr val="323232"/>
              </a:solidFill>
              <a:highlight>
                <a:srgbClr val="FFFFFF"/>
              </a:highlight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marR="29210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rgbClr val="323232"/>
              </a:solidFill>
              <a:highlight>
                <a:srgbClr val="FFFFFF"/>
              </a:highlight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rgbClr val="323232"/>
              </a:solidFill>
              <a:highlight>
                <a:schemeClr val="dk1"/>
              </a:highlight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91440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400">
              <a:solidFill>
                <a:srgbClr val="323232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75" name="Google Shape;275;p32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‹#›</a:t>
            </a:fld>
            <a:endParaRPr/>
          </a:p>
        </p:txBody>
      </p:sp>
      <p:sp>
        <p:nvSpPr>
          <p:cNvPr id="276" name="Google Shape;276;p32"/>
          <p:cNvSpPr txBox="1"/>
          <p:nvPr>
            <p:ph idx="1" type="body"/>
          </p:nvPr>
        </p:nvSpPr>
        <p:spPr>
          <a:xfrm>
            <a:off x="439050" y="4084250"/>
            <a:ext cx="8265900" cy="62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marR="292100" rtl="0" algn="l">
              <a:spcBef>
                <a:spcPts val="800"/>
              </a:spcBef>
              <a:spcAft>
                <a:spcPts val="0"/>
              </a:spcAft>
              <a:buClr>
                <a:srgbClr val="323232"/>
              </a:buClr>
              <a:buSzPts val="1400"/>
              <a:buFont typeface="Open Sans"/>
              <a:buChar char="●"/>
            </a:pPr>
            <a:r>
              <a:rPr lang="de" sz="1400">
                <a:solidFill>
                  <a:srgbClr val="323232"/>
                </a:solidFill>
                <a:latin typeface="Open Sans"/>
                <a:ea typeface="Open Sans"/>
                <a:cs typeface="Open Sans"/>
                <a:sym typeface="Open Sans"/>
              </a:rPr>
              <a:t>Very </a:t>
            </a:r>
            <a:r>
              <a:rPr lang="de" sz="1400">
                <a:solidFill>
                  <a:srgbClr val="323232"/>
                </a:solidFill>
                <a:latin typeface="Open Sans"/>
                <a:ea typeface="Open Sans"/>
                <a:cs typeface="Open Sans"/>
                <a:sym typeface="Open Sans"/>
              </a:rPr>
              <a:t>similar</a:t>
            </a:r>
            <a:r>
              <a:rPr lang="de" sz="1400">
                <a:solidFill>
                  <a:srgbClr val="323232"/>
                </a:solidFill>
                <a:latin typeface="Open Sans"/>
                <a:ea typeface="Open Sans"/>
                <a:cs typeface="Open Sans"/>
                <a:sym typeface="Open Sans"/>
              </a:rPr>
              <a:t> pattern across all federal states for </a:t>
            </a:r>
            <a:r>
              <a:rPr lang="de" sz="1400">
                <a:solidFill>
                  <a:srgbClr val="323232"/>
                </a:solidFill>
                <a:highlight>
                  <a:schemeClr val="dk1"/>
                </a:highlight>
                <a:latin typeface="Open Sans"/>
                <a:ea typeface="Open Sans"/>
                <a:cs typeface="Open Sans"/>
                <a:sym typeface="Open Sans"/>
              </a:rPr>
              <a:t>PM₁₀, PM₂.₅, and NO₂</a:t>
            </a:r>
            <a:r>
              <a:rPr lang="de" sz="1400">
                <a:solidFill>
                  <a:srgbClr val="323232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endParaRPr sz="1400">
              <a:solidFill>
                <a:srgbClr val="323232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457200" marR="292100" rtl="0" algn="l"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rgbClr val="323232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marR="29210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rgbClr val="323232"/>
              </a:solidFill>
              <a:highlight>
                <a:srgbClr val="FFFFFF"/>
              </a:highlight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marR="29210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rgbClr val="323232"/>
              </a:solidFill>
              <a:highlight>
                <a:srgbClr val="FFFFFF"/>
              </a:highlight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marR="29210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rgbClr val="323232"/>
              </a:solidFill>
              <a:highlight>
                <a:srgbClr val="FFFFFF"/>
              </a:highlight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rgbClr val="323232"/>
              </a:solidFill>
              <a:highlight>
                <a:schemeClr val="dk1"/>
              </a:highlight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91440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400">
              <a:solidFill>
                <a:srgbClr val="323232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pic>
        <p:nvPicPr>
          <p:cNvPr id="277" name="Google Shape;277;p3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71463" y="1980000"/>
            <a:ext cx="8667969" cy="17994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p33"/>
          <p:cNvSpPr txBox="1"/>
          <p:nvPr>
            <p:ph type="title"/>
          </p:nvPr>
        </p:nvSpPr>
        <p:spPr>
          <a:xfrm>
            <a:off x="1888684" y="1746100"/>
            <a:ext cx="5377500" cy="1646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de" sz="3600"/>
              <a:t>Website</a:t>
            </a:r>
            <a:endParaRPr sz="3600"/>
          </a:p>
        </p:txBody>
      </p:sp>
      <p:sp>
        <p:nvSpPr>
          <p:cNvPr id="283" name="Google Shape;283;p33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‹#›</a:t>
            </a:fld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7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p34"/>
          <p:cNvSpPr txBox="1"/>
          <p:nvPr>
            <p:ph type="title"/>
          </p:nvPr>
        </p:nvSpPr>
        <p:spPr>
          <a:xfrm>
            <a:off x="819150" y="677075"/>
            <a:ext cx="7505700" cy="9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de" sz="3200"/>
              <a:t>Website</a:t>
            </a:r>
            <a:endParaRPr sz="3200"/>
          </a:p>
        </p:txBody>
      </p:sp>
      <p:sp>
        <p:nvSpPr>
          <p:cNvPr id="289" name="Google Shape;289;p34"/>
          <p:cNvSpPr txBox="1"/>
          <p:nvPr>
            <p:ph idx="1" type="body"/>
          </p:nvPr>
        </p:nvSpPr>
        <p:spPr>
          <a:xfrm>
            <a:off x="855100" y="1308325"/>
            <a:ext cx="2254800" cy="915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29210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lang="de" sz="2000">
                <a:solidFill>
                  <a:srgbClr val="323232"/>
                </a:solidFill>
                <a:highlight>
                  <a:srgbClr val="FFFFFF"/>
                </a:highlight>
                <a:latin typeface="Open Sans"/>
                <a:ea typeface="Open Sans"/>
                <a:cs typeface="Open Sans"/>
                <a:sym typeface="Open Sans"/>
              </a:rPr>
              <a:t>Live demo!</a:t>
            </a:r>
            <a:endParaRPr sz="2000">
              <a:solidFill>
                <a:srgbClr val="323232"/>
              </a:solidFill>
              <a:highlight>
                <a:srgbClr val="FFFFFF"/>
              </a:highlight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marR="29210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 sz="2700">
              <a:solidFill>
                <a:srgbClr val="323232"/>
              </a:solidFill>
              <a:highlight>
                <a:srgbClr val="FFFFFF"/>
              </a:highlight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marR="29210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 sz="2700">
              <a:solidFill>
                <a:srgbClr val="323232"/>
              </a:solidFill>
              <a:highlight>
                <a:srgbClr val="FFFFFF"/>
              </a:highlight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marR="29210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 sz="2700">
              <a:solidFill>
                <a:srgbClr val="323232"/>
              </a:solidFill>
              <a:highlight>
                <a:srgbClr val="FFFFFF"/>
              </a:highlight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700">
              <a:solidFill>
                <a:srgbClr val="323232"/>
              </a:solidFill>
              <a:highlight>
                <a:schemeClr val="dk1"/>
              </a:highlight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91440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2700">
              <a:solidFill>
                <a:srgbClr val="323232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90" name="Google Shape;290;p34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‹#›</a:t>
            </a:fld>
            <a:endParaRPr/>
          </a:p>
        </p:txBody>
      </p:sp>
      <p:pic>
        <p:nvPicPr>
          <p:cNvPr id="291" name="Google Shape;291;p3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786225" y="666275"/>
            <a:ext cx="3810950" cy="38109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5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p35"/>
          <p:cNvSpPr txBox="1"/>
          <p:nvPr>
            <p:ph type="title"/>
          </p:nvPr>
        </p:nvSpPr>
        <p:spPr>
          <a:xfrm>
            <a:off x="1888684" y="1746100"/>
            <a:ext cx="5377500" cy="1646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de" sz="3600"/>
              <a:t>Thank you!</a:t>
            </a:r>
            <a:endParaRPr sz="3600"/>
          </a:p>
        </p:txBody>
      </p:sp>
      <p:sp>
        <p:nvSpPr>
          <p:cNvPr id="297" name="Google Shape;297;p35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‹#›</a:t>
            </a:fld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hift">
  <a:themeElements>
    <a:clrScheme name="Shift">
      <a:dk1>
        <a:srgbClr val="FFFFFF"/>
      </a:dk1>
      <a:lt1>
        <a:srgbClr val="AF7B51"/>
      </a:lt1>
      <a:dk2>
        <a:srgbClr val="233A44"/>
      </a:dk2>
      <a:lt2>
        <a:srgbClr val="D9D9D9"/>
      </a:lt2>
      <a:accent1>
        <a:srgbClr val="00796B"/>
      </a:accent1>
      <a:accent2>
        <a:srgbClr val="D9563F"/>
      </a:accent2>
      <a:accent3>
        <a:srgbClr val="C4A15A"/>
      </a:accent3>
      <a:accent4>
        <a:srgbClr val="14F597"/>
      </a:accent4>
      <a:accent5>
        <a:srgbClr val="3D4594"/>
      </a:accent5>
      <a:accent6>
        <a:srgbClr val="163EF5"/>
      </a:accent6>
      <a:hlink>
        <a:srgbClr val="3D4594"/>
      </a:hlink>
      <a:folHlink>
        <a:srgbClr val="3D4594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