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314" r:id="rId5"/>
    <p:sldId id="315" r:id="rId6"/>
    <p:sldId id="316" r:id="rId7"/>
    <p:sldId id="318" r:id="rId8"/>
    <p:sldId id="327" r:id="rId9"/>
    <p:sldId id="328" r:id="rId10"/>
    <p:sldId id="329" r:id="rId11"/>
    <p:sldId id="319" r:id="rId12"/>
    <p:sldId id="320" r:id="rId13"/>
    <p:sldId id="326" r:id="rId14"/>
    <p:sldId id="321" r:id="rId15"/>
    <p:sldId id="30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>
        <p:scale>
          <a:sx n="70" d="100"/>
          <a:sy n="70" d="100"/>
        </p:scale>
        <p:origin x="758" y="27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D595-821D-0813-DDF7-0395707B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9E2D-AF4D-D00D-8202-04DDC69AC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23D65-D16B-BA4E-779B-95C365E86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34C79-741B-14FB-5000-8DBA40455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04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082E-E693-22FE-0A27-21BD7BBC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6946A-FDA7-E73C-9F1C-2EA6BE230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55739-8781-ABB0-FC8F-B32CDF449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4691E-A526-4780-0C59-D80DD07C4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24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2A783-9D19-3F08-871A-4A4D48A6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B76CA-868C-E62B-53C6-B8E0493B4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B10DE-D568-FCD1-6440-9CEC686A2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33699-237B-62EC-2BD0-AFA0A8B83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96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3457-FE94-579A-530E-AA67F085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2F489-786E-6070-EB52-DD28EFEF9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B63E6-B9D2-8FBF-11BC-F61AA3FC3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146B5-7A87-3A3C-93EC-6FC7D0A09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168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estination.one/unsere-loesung-oneproduct/open-data" TargetMode="External"/><Relationship Id="rId3" Type="http://schemas.openxmlformats.org/officeDocument/2006/relationships/hyperlink" Target="https://luftqualitaet.api.bund.dev/" TargetMode="External"/><Relationship Id="rId7" Type="http://schemas.openxmlformats.org/officeDocument/2006/relationships/hyperlink" Target="https://www.untourism.int/tourism-statistics/tourism-statistics-databas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ata.europa.eu/en/publications/datastories/high-value-datasets-tourism-eu" TargetMode="External"/><Relationship Id="rId5" Type="http://schemas.openxmlformats.org/officeDocument/2006/relationships/hyperlink" Target="https://open-meteo.com/en/docs" TargetMode="External"/><Relationship Id="rId4" Type="http://schemas.openxmlformats.org/officeDocument/2006/relationships/hyperlink" Target="https://freeapis.io/iqair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2773681"/>
            <a:ext cx="6795589" cy="3200400"/>
          </a:xfrm>
        </p:spPr>
        <p:txBody>
          <a:bodyPr/>
          <a:lstStyle/>
          <a:p>
            <a:r>
              <a:rPr lang="en-US" dirty="0"/>
              <a:t>Data-Science-Project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D9461-B586-5242-1D98-FC144B6F5C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DE" dirty="0"/>
              <a:t>Air Pollution</a:t>
            </a:r>
          </a:p>
          <a:p>
            <a:pPr marL="342900" indent="-342900">
              <a:buFontTx/>
              <a:buChar char="-"/>
            </a:pPr>
            <a:r>
              <a:rPr lang="de-DE" dirty="0"/>
              <a:t>Filme</a:t>
            </a:r>
          </a:p>
          <a:p>
            <a:pPr marL="342900" indent="-342900">
              <a:buFontTx/>
              <a:buChar char="-"/>
            </a:pPr>
            <a:r>
              <a:rPr lang="de-DE" dirty="0"/>
              <a:t>Arbeitsmarkt</a:t>
            </a:r>
            <a:endParaRPr lang="en-D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85EFD8C-9F53-87C8-6E18-DFA189F8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580640"/>
            <a:ext cx="6509657" cy="3368819"/>
          </a:xfrm>
        </p:spPr>
        <p:txBody>
          <a:bodyPr/>
          <a:lstStyle/>
          <a:p>
            <a:r>
              <a:rPr lang="en-US" dirty="0" err="1"/>
              <a:t>Luftverschmutzung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653FBA-57C1-8AFA-803B-F0FCC740AB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Pollution - Questions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132C3-EDB2-0E3B-98F1-1D8F26B5C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979230" cy="415575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u="sng" dirty="0">
                <a:highlight>
                  <a:srgbClr val="FFFF00"/>
                </a:highlight>
              </a:rPr>
              <a:t>1. Long-term Development of Air Pollution</a:t>
            </a:r>
          </a:p>
          <a:p>
            <a:pPr marL="0" indent="0">
              <a:buNone/>
            </a:pPr>
            <a:r>
              <a:rPr lang="en-GB" dirty="0"/>
              <a:t>How have the annual mean concentrations of PM10, PM2, and NO₂ in Germany developed over the period 2000–2025? (This could also be broken down to a monthly level.)</a:t>
            </a:r>
          </a:p>
          <a:p>
            <a:pPr marL="0" indent="0">
              <a:buNone/>
            </a:pPr>
            <a:r>
              <a:rPr lang="en-GB" b="1" u="sng" dirty="0">
                <a:highlight>
                  <a:srgbClr val="FFFF00"/>
                </a:highlight>
              </a:rPr>
              <a:t>1.1 Impact of the COVID-19 Pandemic</a:t>
            </a:r>
          </a:p>
          <a:p>
            <a:pPr marL="0" indent="0">
              <a:buNone/>
            </a:pPr>
            <a:r>
              <a:rPr lang="en-GB" dirty="0"/>
              <a:t>Were there significant changes in NO₂ and PM10 concentrations during the COVID-19-related mobility restrictions (March–May 2020) compared to the same periods in previous years (2017–2019)?</a:t>
            </a:r>
            <a:br>
              <a:rPr lang="en-GB" dirty="0"/>
            </a:br>
            <a:r>
              <a:rPr lang="en-GB" dirty="0"/>
              <a:t>(Possibly also include two years before and after for comparison.)</a:t>
            </a:r>
          </a:p>
          <a:p>
            <a:pPr marL="0" indent="0">
              <a:buNone/>
            </a:pPr>
            <a:r>
              <a:rPr lang="en-GB" b="1" u="sng" dirty="0">
                <a:highlight>
                  <a:srgbClr val="FFFF00"/>
                </a:highlight>
              </a:rPr>
              <a:t>1.2 New Year’s Effect (Fireworks)</a:t>
            </a:r>
          </a:p>
          <a:p>
            <a:pPr marL="0" indent="0">
              <a:buNone/>
            </a:pPr>
            <a:r>
              <a:rPr lang="en-GB" dirty="0"/>
              <a:t>Do the daily mean values of PM10 and PM2 on January 1 differ significantly between the years 2000–2025?</a:t>
            </a:r>
            <a:br>
              <a:rPr lang="en-GB" dirty="0"/>
            </a:br>
            <a:endParaRPr lang="en-GB" u="sng" dirty="0"/>
          </a:p>
          <a:p>
            <a:pPr marL="0" indent="0">
              <a:buNone/>
            </a:pPr>
            <a:r>
              <a:rPr lang="en-GB" b="1" u="sng" dirty="0"/>
              <a:t>2. Proximity to Major Roads</a:t>
            </a:r>
          </a:p>
          <a:p>
            <a:pPr marL="0" indent="0">
              <a:buNone/>
            </a:pPr>
            <a:r>
              <a:rPr lang="en-GB" dirty="0"/>
              <a:t>Do the mean NO₂ concentrations differ significantly between traffic monitoring stations and background stations in urban areas?</a:t>
            </a:r>
            <a:br>
              <a:rPr lang="en-GB" dirty="0"/>
            </a:br>
            <a:endParaRPr lang="en-GB" u="sng" dirty="0"/>
          </a:p>
          <a:p>
            <a:pPr marL="0" indent="0">
              <a:buNone/>
            </a:pPr>
            <a:r>
              <a:rPr lang="en-GB" b="1" u="sng" dirty="0"/>
              <a:t>3. Federal State Comparison</a:t>
            </a:r>
          </a:p>
          <a:p>
            <a:pPr marL="0" indent="0">
              <a:buNone/>
            </a:pPr>
            <a:r>
              <a:rPr lang="en-GB" dirty="0"/>
              <a:t>Are there significant differences in the annual mean PM2 concentrations between the German federal states over the period 2000–2025?</a:t>
            </a:r>
          </a:p>
          <a:p>
            <a:pPr marL="0" indent="0">
              <a:buNone/>
            </a:pPr>
            <a:r>
              <a:rPr lang="en-GB" b="1" u="sng" dirty="0"/>
              <a:t>3.1 Urban vs. Rural</a:t>
            </a:r>
          </a:p>
          <a:p>
            <a:pPr marL="0" indent="0">
              <a:buNone/>
            </a:pPr>
            <a:r>
              <a:rPr lang="en-GB" dirty="0"/>
              <a:t>Do PM10 concentrations differ significantly between urban, suburban, and rural monitoring stations?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E7A8-B0C8-428E-FF7D-5C66FF46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4526-67CB-CCC2-F24B-4FF3A682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Air Pollution - </a:t>
            </a:r>
            <a:r>
              <a:rPr lang="en-US" sz="3200" dirty="0" err="1"/>
              <a:t>QUestions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F0EBE-0120-BBA0-E9E4-975498B90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B5248-9F82-0CCB-A2D4-7228D9E5AB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u="sng" dirty="0">
                <a:highlight>
                  <a:srgbClr val="FFFF00"/>
                </a:highlight>
              </a:rPr>
              <a:t>4. Germany vs. Other Countries</a:t>
            </a:r>
          </a:p>
          <a:p>
            <a:pPr marL="0" indent="0">
              <a:buNone/>
            </a:pPr>
            <a:r>
              <a:rPr lang="en-GB" dirty="0"/>
              <a:t>How do the annual mean PM2 concentrations in Germany compare to those in comparable EU countries over the period 2000–2025 (if possible)?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u="sng" dirty="0"/>
              <a:t>5. Seasonal Effects</a:t>
            </a:r>
          </a:p>
          <a:p>
            <a:pPr marL="0" indent="0">
              <a:buNone/>
            </a:pPr>
            <a:r>
              <a:rPr lang="en-GB" dirty="0"/>
              <a:t>How strongly do PM10 concentrations vary between winter and summer months (and is this effect more pronounced in urban areas)?</a:t>
            </a:r>
          </a:p>
          <a:p>
            <a:pPr marL="0" indent="0">
              <a:buNone/>
            </a:pPr>
            <a:r>
              <a:rPr lang="en-GB" b="1" u="sng" dirty="0">
                <a:highlight>
                  <a:srgbClr val="FFFF00"/>
                </a:highlight>
              </a:rPr>
              <a:t>6. Ozone and Temperature</a:t>
            </a:r>
          </a:p>
          <a:p>
            <a:pPr marL="0" indent="0">
              <a:buNone/>
            </a:pPr>
            <a:r>
              <a:rPr lang="en-GB" dirty="0"/>
              <a:t>Is there a significant positive correlation between O₃ concentrations and daily maximum temperatures in the German federal states?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u="sng" dirty="0"/>
              <a:t>7. Long-term Improvement/Deterioration</a:t>
            </a:r>
          </a:p>
          <a:p>
            <a:pPr marL="0" indent="0">
              <a:buNone/>
            </a:pPr>
            <a:r>
              <a:rPr lang="en-GB" dirty="0"/>
              <a:t>Which air pollutants show the strongest significant trends (positive or negative) over the period 2000–2025?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u="sng" dirty="0"/>
              <a:t>8. Regional Clusters</a:t>
            </a:r>
          </a:p>
          <a:p>
            <a:pPr marL="0" indent="0">
              <a:buNone/>
            </a:pPr>
            <a:r>
              <a:rPr lang="en-GB" dirty="0"/>
              <a:t>Can spatial clusters of high NO₂ or PM10 pollution be identified, and do these correlate with industrial or traffic locations?</a:t>
            </a:r>
          </a:p>
          <a:p>
            <a:pPr marL="0" indent="0">
              <a:buNone/>
            </a:pPr>
            <a:r>
              <a:rPr lang="en-GB" b="1" u="sng" dirty="0"/>
              <a:t>9. Tourism &amp; Air Pollution</a:t>
            </a:r>
          </a:p>
          <a:p>
            <a:pPr marL="0" indent="0">
              <a:buNone/>
            </a:pPr>
            <a:r>
              <a:rPr lang="en-GB" dirty="0"/>
              <a:t>Is there a relationship between seasonal tourism intensity and short-term changes in NO₂ or PM10 concentrations in tourist regions?</a:t>
            </a:r>
          </a:p>
        </p:txBody>
      </p:sp>
    </p:spTree>
    <p:extLst>
      <p:ext uri="{BB962C8B-B14F-4D97-AF65-F5344CB8AC3E}">
        <p14:creationId xmlns:p14="http://schemas.microsoft.com/office/powerpoint/2010/main" val="396977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1D73-8B08-F823-C04B-9D49D5FA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FDB1-704C-238A-5CCD-BA0A8E5B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58201" cy="1646555"/>
          </a:xfrm>
        </p:spPr>
        <p:txBody>
          <a:bodyPr/>
          <a:lstStyle/>
          <a:p>
            <a:r>
              <a:rPr lang="en-US" dirty="0"/>
              <a:t>Air Pollution</a:t>
            </a:r>
            <a:r>
              <a:rPr lang="en-US" sz="3200" dirty="0"/>
              <a:t> – Measurement criteria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B4E79-8EB3-EAE9-8F45-513222791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04483-120F-7AF8-CE69-4DDD3CEAB0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1) - gemessene Arten der Luftverschmutzung: Feinstaub - Partikel &lt;= 10 </a:t>
            </a:r>
            <a:r>
              <a:rPr lang="de-DE" b="1" dirty="0"/>
              <a:t>µm </a:t>
            </a:r>
            <a:r>
              <a:rPr lang="de-DE" dirty="0"/>
              <a:t>(PM10), Kohlenmonoxid (CO), Ozon (O3), Schwefeldioxid (SO2), Stickstoffdioxid (NO2), Blei im Feinstaub (PM10PB), Benzo(a)pyren im Feinstaub (PM10BAP), Benzol (CHB), Feinstaub - Partikel &lt;= 2 </a:t>
            </a:r>
            <a:r>
              <a:rPr lang="de-DE" b="1" dirty="0"/>
              <a:t>µm </a:t>
            </a:r>
            <a:r>
              <a:rPr lang="de-DE" dirty="0"/>
              <a:t>(PM2), Arsen im Feinstaub (PM10AS), Cadmium im Feinstaub (PM10CD), Nickel im Feinstaub (PM10NI)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2) - Bereiche in denen gemessen wird: alles Bundesländer + UBA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3) - Tagesmittel, Ein-Stunden-Mittelwert, Ein-Stunden-Tagesmaxima, Acht-Stunden-Mittelwert, Acht-Stunden-Tagesmaxima, Tagesmittel (stündlich gleitend)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4) - Lage der Messstation: städtisches Gebiet, vorstädtisches Gebiet, ländliches Gebiet, ländlich abgelegen, ländliche regional, ländlich stadtnah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5) - Stationstypen (was messen sie): Hintergrund, Industrie, Verkehr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6) - Thresholds (Klassifizierungsstufen für die Luftverschmutzung): von 0 bis 4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7) - Ausgabe wann bestimmte Verschmutzungsgrenzen überschritten wurden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8) - viele der oben genannten Kriterien vereint unter einer Suchanfrage mit zeitlicher Abgrenzungsmöglichkeit</a:t>
            </a:r>
            <a:endParaRPr lang="en-DE" dirty="0"/>
          </a:p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3865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5370-C757-726E-5FF8-1FA1ECEA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D1E8-BDE0-0655-DCDE-46020B9E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pollution</a:t>
            </a:r>
            <a:r>
              <a:rPr lang="en-US" sz="3200" dirty="0"/>
              <a:t> - API</a:t>
            </a:r>
            <a:r>
              <a:rPr lang="en-US" sz="2400" b="1" dirty="0"/>
              <a:t>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9CE2E-01C8-1F02-2284-04FFFCED9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CAE08-34BE-B312-8081-52845E73133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dirty="0"/>
              <a:t>- Air Pollution API</a:t>
            </a:r>
          </a:p>
          <a:p>
            <a:pPr marL="0" indent="0">
              <a:buNone/>
            </a:pPr>
            <a:r>
              <a:rPr lang="de-DE" u="sng" dirty="0">
                <a:hlinkClick r:id="rId3"/>
              </a:rPr>
              <a:t>https://luftqualitaet.api.bund.dev/</a:t>
            </a:r>
            <a:endParaRPr lang="de-DE" u="sng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de-DE" dirty="0"/>
              <a:t>- APIs from different countries necessary for comparison for question 4</a:t>
            </a:r>
            <a:endParaRPr lang="en-DE" dirty="0"/>
          </a:p>
          <a:p>
            <a:pPr marL="0" indent="0">
              <a:buNone/>
            </a:pPr>
            <a:r>
              <a:rPr lang="de-DE" u="sng" dirty="0">
                <a:hlinkClick r:id="rId4"/>
              </a:rPr>
              <a:t>https://freeapis.io/iqair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 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- Weather-API necessary for question 6</a:t>
            </a:r>
            <a:endParaRPr lang="en-DE" dirty="0"/>
          </a:p>
          <a:p>
            <a:pPr marL="0" indent="0">
              <a:buNone/>
            </a:pPr>
            <a:r>
              <a:rPr lang="de-DE" u="sng" dirty="0">
                <a:hlinkClick r:id="rId5"/>
              </a:rPr>
              <a:t>https://open-meteo.com/en/docs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 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- API necessary for question 9, for tourism figures</a:t>
            </a:r>
            <a:endParaRPr lang="en-DE" dirty="0"/>
          </a:p>
          <a:p>
            <a:pPr marL="0" indent="0">
              <a:buNone/>
            </a:pPr>
            <a:r>
              <a:rPr lang="de-DE" u="sng" dirty="0">
                <a:hlinkClick r:id="rId6"/>
              </a:rPr>
              <a:t>https://data.europa.eu/en/publications/datastories/high-value-datasets-tourism-eu</a:t>
            </a:r>
            <a:endParaRPr lang="en-DE" dirty="0"/>
          </a:p>
          <a:p>
            <a:pPr marL="0" indent="0">
              <a:buNone/>
            </a:pPr>
            <a:r>
              <a:rPr lang="de-DE" u="sng" dirty="0">
                <a:hlinkClick r:id="rId7"/>
              </a:rPr>
              <a:t>https://www.untourism.int/tourism-statistics/tourism-statistics-database</a:t>
            </a:r>
            <a:endParaRPr lang="en-DE" dirty="0"/>
          </a:p>
          <a:p>
            <a:pPr marL="0" indent="0">
              <a:buNone/>
            </a:pPr>
            <a:r>
              <a:rPr lang="de-DE" u="sng" dirty="0">
                <a:hlinkClick r:id="rId8"/>
              </a:rPr>
              <a:t>https://www.destination.one/unsere-loesung-oneproduct/open-data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37142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/>
          <a:lstStyle/>
          <a:p>
            <a:r>
              <a:rPr lang="en-US" dirty="0"/>
              <a:t>Filme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/>
          <a:lstStyle/>
          <a:p>
            <a:r>
              <a:rPr lang="en-US" noProof="1"/>
              <a:t>Online store and market swap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D93B73-7F8F-B185-FCFB-43D30AEC7D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Filme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A2A866-32E8-7ECA-A581-4AA876CAF0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9" y="2022250"/>
            <a:ext cx="10363201" cy="3747180"/>
          </a:xfrm>
        </p:spPr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42E0-D964-B6C3-AF9A-F5B8D539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CCE5-F289-B0C4-A7A9-E077B628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</p:spPr>
        <p:txBody>
          <a:bodyPr/>
          <a:lstStyle/>
          <a:p>
            <a:r>
              <a:rPr lang="en-US" dirty="0" err="1"/>
              <a:t>Arbeitsmarkt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9D5643F-7075-BCB1-65F0-44E8A2D6AF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45302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/>
          <a:lstStyle/>
          <a:p>
            <a:r>
              <a:rPr lang="en-US" dirty="0" err="1"/>
              <a:t>Arbeitsmarkt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D4C493-6B56-BE2A-51E3-AC9B485C5C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8" y="2018120"/>
            <a:ext cx="10439401" cy="3747180"/>
          </a:xfrm>
        </p:spPr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79</TotalTime>
  <Words>690</Words>
  <Application>Microsoft Office PowerPoint</Application>
  <PresentationFormat>Widescreen</PresentationFormat>
  <Paragraphs>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Custom</vt:lpstr>
      <vt:lpstr>Data-Science-Project</vt:lpstr>
      <vt:lpstr>TOpics</vt:lpstr>
      <vt:lpstr>Luftverschmutzung</vt:lpstr>
      <vt:lpstr>Air Pollution - Questions </vt:lpstr>
      <vt:lpstr>Air Pollution - QUestions </vt:lpstr>
      <vt:lpstr>Air Pollution – Measurement criteria </vt:lpstr>
      <vt:lpstr>Air pollution - APIS </vt:lpstr>
      <vt:lpstr>Filme</vt:lpstr>
      <vt:lpstr>Filme</vt:lpstr>
      <vt:lpstr>Arbeitsmarkt</vt:lpstr>
      <vt:lpstr>Arbeitsmarkt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 F</dc:creator>
  <cp:lastModifiedBy>F F</cp:lastModifiedBy>
  <cp:revision>8</cp:revision>
  <dcterms:created xsi:type="dcterms:W3CDTF">2026-02-26T09:58:22Z</dcterms:created>
  <dcterms:modified xsi:type="dcterms:W3CDTF">2026-02-26T11:17:44Z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