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9"/>
  </p:notesMasterIdLst>
  <p:handoutMasterIdLst>
    <p:handoutMasterId r:id="rId20"/>
  </p:handoutMasterIdLst>
  <p:sldIdLst>
    <p:sldId id="314" r:id="rId5"/>
    <p:sldId id="315" r:id="rId6"/>
    <p:sldId id="316" r:id="rId7"/>
    <p:sldId id="318" r:id="rId8"/>
    <p:sldId id="327" r:id="rId9"/>
    <p:sldId id="328" r:id="rId10"/>
    <p:sldId id="329" r:id="rId11"/>
    <p:sldId id="319" r:id="rId12"/>
    <p:sldId id="320" r:id="rId13"/>
    <p:sldId id="330" r:id="rId14"/>
    <p:sldId id="331" r:id="rId15"/>
    <p:sldId id="326" r:id="rId16"/>
    <p:sldId id="321" r:id="rId17"/>
    <p:sldId id="30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>
      <p:cViewPr>
        <p:scale>
          <a:sx n="70" d="100"/>
          <a:sy n="70" d="100"/>
        </p:scale>
        <p:origin x="758" y="278"/>
      </p:cViewPr>
      <p:guideLst>
        <p:guide orient="horz" pos="3360"/>
        <p:guide pos="3840"/>
      </p:guideLst>
    </p:cSldViewPr>
  </p:slideViewPr>
  <p:outlineViewPr>
    <p:cViewPr>
      <p:scale>
        <a:sx n="33" d="100"/>
        <a:sy n="33" d="100"/>
      </p:scale>
      <p:origin x="0" y="-126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2/26/2026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2/26/2026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137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969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550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1242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CD595-821D-0813-DDF7-0395707B0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B29E2D-AF4D-D00D-8202-04DDC69AC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723D65-D16B-BA4E-779B-95C365E86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34C79-741B-14FB-5000-8DBA404557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57045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6082E-E693-22FE-0A27-21BD7BBCC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6946A-FDA7-E73C-9F1C-2EA6BE230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55739-8781-ABB0-FC8F-B32CDF449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4691E-A526-4780-0C59-D80DD07C49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3241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2A783-9D19-3F08-871A-4A4D48A6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EB76CA-868C-E62B-53C6-B8E0493B4C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DB10DE-D568-FCD1-6440-9CEC686A2B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133699-237B-62EC-2BD0-AFA0A8B83E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29969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4728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126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4B313-700F-284D-B28E-B582D1BA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403502-EA9B-0687-250C-69F01FA362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049245-0387-A67F-0E59-CBDB49818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AC6B10-122B-1EFC-3B3E-75EE258408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91274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99012-7FB2-04F7-37D9-E52E45F34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D72639-A5B8-3B7E-5DA7-F6CB813B6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D15DF4-D00A-D7D3-37D5-225632A768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B18E62-5578-4432-0AF1-156ACC6A8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67269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13457-FE94-579A-530E-AA67F085B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62F489-786E-6070-EB52-DD28EFEF90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6B63E6-B9D2-8FBF-11BC-F61AA3FC3E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C146B5-7A87-3A3C-93EC-6FC7D0A099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1685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2295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9966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15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74996-9779-1D0F-B5C6-7FE85FFF1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0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6B97173-A601-1D66-1651-4FE0D76A0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454" t="1728"/>
          <a:stretch/>
        </p:blipFill>
        <p:spPr>
          <a:xfrm>
            <a:off x="-1" y="0"/>
            <a:ext cx="8264995" cy="532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84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0DFB311A-EAAD-7656-C753-E8C739948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4533" t="18691" r="1" b="-131"/>
          <a:stretch/>
        </p:blipFill>
        <p:spPr>
          <a:xfrm rot="5400000">
            <a:off x="7851419" y="-1244552"/>
            <a:ext cx="3096029" cy="5585137"/>
          </a:xfrm>
          <a:custGeom>
            <a:avLst/>
            <a:gdLst>
              <a:gd name="connsiteX0" fmla="*/ 0 w 1756624"/>
              <a:gd name="connsiteY0" fmla="*/ 0 h 6858000"/>
              <a:gd name="connsiteX1" fmla="*/ 1756624 w 1756624"/>
              <a:gd name="connsiteY1" fmla="*/ 0 h 6858000"/>
              <a:gd name="connsiteX2" fmla="*/ 1756624 w 1756624"/>
              <a:gd name="connsiteY2" fmla="*/ 6858000 h 6858000"/>
              <a:gd name="connsiteX3" fmla="*/ 0 w 175662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6624" h="6858000">
                <a:moveTo>
                  <a:pt x="0" y="0"/>
                </a:moveTo>
                <a:lnTo>
                  <a:pt x="1756624" y="0"/>
                </a:lnTo>
                <a:lnTo>
                  <a:pt x="17566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1612F0DE-D367-10BB-1F71-60AA6527C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151" r="18577"/>
          <a:stretch/>
        </p:blipFill>
        <p:spPr>
          <a:xfrm>
            <a:off x="7010400" y="0"/>
            <a:ext cx="51816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4F5799-FC34-2F2D-D11E-9B472CAF06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575025C-084B-CD7A-F546-0E13BA13CFE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buNone/>
              <a:defRPr sz="2000"/>
            </a:lvl1pPr>
            <a:lvl2pPr>
              <a:lnSpc>
                <a:spcPct val="120000"/>
              </a:lnSpc>
              <a:defRPr sz="1800"/>
            </a:lvl2pPr>
            <a:lvl3pPr>
              <a:lnSpc>
                <a:spcPct val="120000"/>
              </a:lnSpc>
              <a:defRPr sz="1600"/>
            </a:lvl3pPr>
            <a:lvl4pPr>
              <a:lnSpc>
                <a:spcPct val="120000"/>
              </a:lnSpc>
              <a:defRPr sz="1400"/>
            </a:lvl4pPr>
            <a:lvl5pPr>
              <a:lnSpc>
                <a:spcPct val="120000"/>
              </a:lnSpc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750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5DE041D-A3BF-94FF-029C-719D4DADA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300" t="13815"/>
          <a:stretch/>
        </p:blipFill>
        <p:spPr>
          <a:xfrm>
            <a:off x="0" y="-1"/>
            <a:ext cx="4239206" cy="37761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EE605D-0584-F71C-A97D-B672F13E39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2580640"/>
            <a:ext cx="5181600" cy="3368819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9AF635C-89E6-F6EF-FA6A-417A9A84BF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5840" y="-10159"/>
            <a:ext cx="6116320" cy="6868160"/>
          </a:xfrm>
          <a:custGeom>
            <a:avLst/>
            <a:gdLst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0 w 6116320"/>
              <a:gd name="connsiteY3" fmla="*/ 6880225 h 6880225"/>
              <a:gd name="connsiteX4" fmla="*/ 0 w 6116320"/>
              <a:gd name="connsiteY4" fmla="*/ 0 h 6880225"/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2052320 w 6116320"/>
              <a:gd name="connsiteY3" fmla="*/ 6880225 h 6880225"/>
              <a:gd name="connsiteX4" fmla="*/ 0 w 6116320"/>
              <a:gd name="connsiteY4" fmla="*/ 0 h 688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6320" h="6880225">
                <a:moveTo>
                  <a:pt x="0" y="0"/>
                </a:moveTo>
                <a:lnTo>
                  <a:pt x="6116320" y="0"/>
                </a:lnTo>
                <a:lnTo>
                  <a:pt x="6116320" y="6880225"/>
                </a:lnTo>
                <a:lnTo>
                  <a:pt x="2052320" y="6880225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3678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2B74EE53-DB22-C27E-074F-A7129585F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158" t="-5374" b="78533"/>
          <a:stretch/>
        </p:blipFill>
        <p:spPr>
          <a:xfrm rot="10800000">
            <a:off x="6324600" y="0"/>
            <a:ext cx="5867400" cy="16473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8AEF0C-FA4B-8C23-0132-5529EC244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0" y="1310639"/>
            <a:ext cx="4805997" cy="2689629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3DD4867-9B0B-647C-1F78-5E50BF30F08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1016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5384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405384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FF4D65D-965A-5E86-4D91-C72D1D03A8B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26163" y="4172990"/>
            <a:ext cx="4805997" cy="238973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6365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4C9F686-E069-3B60-9625-01EE6A41D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239"/>
          <a:stretch/>
        </p:blipFill>
        <p:spPr>
          <a:xfrm flipH="1">
            <a:off x="9135414" y="0"/>
            <a:ext cx="3056586" cy="6858000"/>
          </a:xfrm>
          <a:custGeom>
            <a:avLst/>
            <a:gdLst>
              <a:gd name="connsiteX0" fmla="*/ 4284372 w 4284372"/>
              <a:gd name="connsiteY0" fmla="*/ 0 h 6858000"/>
              <a:gd name="connsiteX1" fmla="*/ 0 w 4284372"/>
              <a:gd name="connsiteY1" fmla="*/ 0 h 6858000"/>
              <a:gd name="connsiteX2" fmla="*/ 0 w 4284372"/>
              <a:gd name="connsiteY2" fmla="*/ 6858000 h 6858000"/>
              <a:gd name="connsiteX3" fmla="*/ 4284372 w 428437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84372" h="6858000">
                <a:moveTo>
                  <a:pt x="4284372" y="0"/>
                </a:moveTo>
                <a:lnTo>
                  <a:pt x="0" y="0"/>
                </a:lnTo>
                <a:lnTo>
                  <a:pt x="0" y="6858000"/>
                </a:lnTo>
                <a:lnTo>
                  <a:pt x="4284372" y="6858000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D7227F9-50F9-820B-69B7-924C02120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2330"/>
          <a:stretch/>
        </p:blipFill>
        <p:spPr>
          <a:xfrm>
            <a:off x="7810500" y="3025140"/>
            <a:ext cx="4381500" cy="38328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8D1E69-316E-A8E1-7ADA-040A0E4907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1069CA0-E0AB-99C6-10DB-13AAC019DD7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213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left Imag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4589277D-BC14-E7E0-5822-5575F563E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8039100" y="228600"/>
            <a:ext cx="4381500" cy="39243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DB1BDE-C8F3-ACC0-740B-CBD81287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28597A3-47D0-F393-55D9-07FFD951F39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586 w 6096586"/>
              <a:gd name="connsiteY0" fmla="*/ 0 h 6858000"/>
              <a:gd name="connsiteX1" fmla="*/ 4054426 w 6096586"/>
              <a:gd name="connsiteY1" fmla="*/ 0 h 6858000"/>
              <a:gd name="connsiteX2" fmla="*/ 6096586 w 6096586"/>
              <a:gd name="connsiteY2" fmla="*/ 6858000 h 6858000"/>
              <a:gd name="connsiteX3" fmla="*/ 586 w 6096586"/>
              <a:gd name="connsiteY3" fmla="*/ 6858000 h 6858000"/>
              <a:gd name="connsiteX4" fmla="*/ 586 w 6096586"/>
              <a:gd name="connsiteY4" fmla="*/ 3669792 h 6858000"/>
              <a:gd name="connsiteX5" fmla="*/ 586 w 6096586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4053840" y="0"/>
                </a:lnTo>
                <a:lnTo>
                  <a:pt x="6096000" y="6858000"/>
                </a:lnTo>
                <a:lnTo>
                  <a:pt x="950976" y="6858000"/>
                </a:lnTo>
                <a:lnTo>
                  <a:pt x="0" y="3669792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4BF260CE-C6E3-AE7A-DB8E-A72A1CF5B54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0" y="4172990"/>
            <a:ext cx="4896677" cy="2309726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9111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6E20435-B9A5-359D-133D-5D3EED409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55" t="41988" r="53993" b="33420"/>
          <a:stretch/>
        </p:blipFill>
        <p:spPr>
          <a:xfrm rot="10800000">
            <a:off x="9198864" y="-5"/>
            <a:ext cx="2993136" cy="1517907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B99CAE4-AA9B-52BA-7DE8-8245CE705D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5445" t="24819" r="46503"/>
          <a:stretch/>
        </p:blipFill>
        <p:spPr>
          <a:xfrm rot="16200000">
            <a:off x="961221" y="4525179"/>
            <a:ext cx="1371600" cy="3294042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28DFE681-710B-6FE5-B8E0-3BC9DB9F1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1" cy="1629601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FE383D3-6A16-1891-FF52-470B26B9404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74B5EB04-CA6E-7417-56DF-A55B21E94B7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84891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79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783FA55-EF1D-66CF-8FD5-29086D71E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81" t="40714" r="61027" b="44471"/>
          <a:stretch/>
        </p:blipFill>
        <p:spPr>
          <a:xfrm rot="10800000" flipV="1">
            <a:off x="-26830" y="5950040"/>
            <a:ext cx="2513521" cy="9144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542CEFED-8DE0-0155-A5B6-A44051A6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7FC493E-284F-ADBA-D92D-883CAB13AD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8" y="365125"/>
            <a:ext cx="10439401" cy="161701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B8B2035-4AA9-D25E-9F15-3ED36F734D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31012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>
              <a:spcBef>
                <a:spcPts val="0"/>
              </a:spcBef>
              <a:spcAft>
                <a:spcPts val="1200"/>
              </a:spcAft>
              <a:defRPr sz="1800" b="1"/>
            </a:lvl2pPr>
            <a:lvl3pPr>
              <a:spcBef>
                <a:spcPts val="0"/>
              </a:spcBef>
              <a:spcAft>
                <a:spcPts val="1200"/>
              </a:spcAft>
              <a:defRPr sz="1600" b="1"/>
            </a:lvl3pPr>
            <a:lvl4pPr>
              <a:spcBef>
                <a:spcPts val="0"/>
              </a:spcBef>
              <a:spcAft>
                <a:spcPts val="1200"/>
              </a:spcAft>
              <a:defRPr sz="1400" b="1"/>
            </a:lvl4pPr>
            <a:lvl5pPr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6A694422-6B3E-3D80-AC41-FD1CED52ACA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602310" y="2018120"/>
            <a:ext cx="675148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2813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right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48DBD2A1-633E-7A22-751B-5CEFCA93F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703" t="485" b="67543"/>
          <a:stretch/>
        </p:blipFill>
        <p:spPr>
          <a:xfrm rot="5400000">
            <a:off x="-115162" y="115164"/>
            <a:ext cx="1895058" cy="166473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3E7BF4D0-D641-9859-157D-B9094EF3D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385" y="446313"/>
            <a:ext cx="5179615" cy="144874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115AE488-757F-4C5A-7733-85C1D1EA98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5181600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9DD264F-42B5-DBB0-9839-DB4C6827ED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6950" y="0"/>
            <a:ext cx="6115050" cy="6868886"/>
          </a:xfrm>
          <a:custGeom>
            <a:avLst/>
            <a:gdLst>
              <a:gd name="connsiteX0" fmla="*/ 0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0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2024742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3603171 h 6858000"/>
              <a:gd name="connsiteX3" fmla="*/ 6115050 w 6115050"/>
              <a:gd name="connsiteY3" fmla="*/ 6858000 h 6858000"/>
              <a:gd name="connsiteX4" fmla="*/ 0 w 6115050"/>
              <a:gd name="connsiteY4" fmla="*/ 6858000 h 6858000"/>
              <a:gd name="connsiteX5" fmla="*/ 2024742 w 6115050"/>
              <a:gd name="connsiteY5" fmla="*/ 0 h 6858000"/>
              <a:gd name="connsiteX0" fmla="*/ 2024742 w 6115050"/>
              <a:gd name="connsiteY0" fmla="*/ 0 h 6868886"/>
              <a:gd name="connsiteX1" fmla="*/ 6115050 w 6115050"/>
              <a:gd name="connsiteY1" fmla="*/ 0 h 6868886"/>
              <a:gd name="connsiteX2" fmla="*/ 6115050 w 6115050"/>
              <a:gd name="connsiteY2" fmla="*/ 3603171 h 6868886"/>
              <a:gd name="connsiteX3" fmla="*/ 5157107 w 6115050"/>
              <a:gd name="connsiteY3" fmla="*/ 6868886 h 6868886"/>
              <a:gd name="connsiteX4" fmla="*/ 0 w 6115050"/>
              <a:gd name="connsiteY4" fmla="*/ 6858000 h 6868886"/>
              <a:gd name="connsiteX5" fmla="*/ 2024742 w 6115050"/>
              <a:gd name="connsiteY5" fmla="*/ 0 h 6868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15050" h="6868886">
                <a:moveTo>
                  <a:pt x="2024742" y="0"/>
                </a:moveTo>
                <a:lnTo>
                  <a:pt x="6115050" y="0"/>
                </a:lnTo>
                <a:lnTo>
                  <a:pt x="6115050" y="3603171"/>
                </a:lnTo>
                <a:lnTo>
                  <a:pt x="5157107" y="6868886"/>
                </a:lnTo>
                <a:lnTo>
                  <a:pt x="0" y="6858000"/>
                </a:lnTo>
                <a:lnTo>
                  <a:pt x="2024742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08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BE5D17C7-3503-7305-8191-20863B738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824" b="26760"/>
          <a:stretch/>
        </p:blipFill>
        <p:spPr>
          <a:xfrm>
            <a:off x="9229725" y="1835240"/>
            <a:ext cx="2962275" cy="502276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76E1AE6-3E01-1CBD-CAEC-11056D00AD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3413" y="1835240"/>
            <a:ext cx="7000875" cy="42798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E28F03-2149-7C50-779B-6A2D8D789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0903" r="75060" b="10347"/>
          <a:stretch/>
        </p:blipFill>
        <p:spPr>
          <a:xfrm rot="16200000">
            <a:off x="149650" y="-149653"/>
            <a:ext cx="1672375" cy="197167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A4CAE4E-4252-8471-C50B-1DD5AFBFE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2" cy="1603462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493CE42-5465-91AC-A1F4-A4821AE37A9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299013" cy="391491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156A00B1-F3E3-B7FF-58F4-61DE3EF07C07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4602163" y="2017713"/>
            <a:ext cx="6675437" cy="393223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6214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13A42171-0D82-07BF-4667-498861CC2A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34408" r="46636" b="1"/>
          <a:stretch/>
        </p:blipFill>
        <p:spPr>
          <a:xfrm flipH="1" flipV="1">
            <a:off x="10506072" y="3984078"/>
            <a:ext cx="1685928" cy="2873921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3C71A0D-EE6D-54C4-71DE-04BE28558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718" t="47145" r="39389" b="8754"/>
          <a:stretch/>
        </p:blipFill>
        <p:spPr>
          <a:xfrm rot="5400000" flipV="1">
            <a:off x="9781526" y="-311511"/>
            <a:ext cx="2098964" cy="272198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3F82FA92-501B-5A05-E15F-2FB9BCEBE3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1990" y="434225"/>
            <a:ext cx="9524998" cy="149962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463EEE0-BE31-122C-586C-8BA8D90371E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6257366" cy="391491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 b="0"/>
            </a:lvl1pPr>
            <a:lvl2pPr marL="228600">
              <a:spcBef>
                <a:spcPts val="0"/>
              </a:spcBef>
              <a:spcAft>
                <a:spcPts val="1200"/>
              </a:spcAft>
              <a:defRPr sz="2000" b="0"/>
            </a:lvl2pPr>
            <a:lvl3pPr marL="685800">
              <a:spcBef>
                <a:spcPts val="0"/>
              </a:spcBef>
              <a:spcAft>
                <a:spcPts val="1200"/>
              </a:spcAft>
              <a:defRPr sz="1800" b="0"/>
            </a:lvl3pPr>
            <a:lvl4pPr marL="914400">
              <a:spcBef>
                <a:spcPts val="0"/>
              </a:spcBef>
              <a:spcAft>
                <a:spcPts val="1200"/>
              </a:spcAft>
              <a:defRPr sz="1600" b="0"/>
            </a:lvl4pPr>
            <a:lvl5pPr marL="1143000">
              <a:spcBef>
                <a:spcPts val="0"/>
              </a:spcBef>
              <a:spcAft>
                <a:spcPts val="1200"/>
              </a:spcAft>
              <a:defRPr sz="16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52C157D5-2C68-BA6A-033B-A4CC016CA68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7967475" y="2018119"/>
            <a:ext cx="2449514" cy="393191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 marL="411480">
              <a:spcBef>
                <a:spcPts val="0"/>
              </a:spcBef>
              <a:spcAft>
                <a:spcPts val="1200"/>
              </a:spcAft>
              <a:defRPr sz="1800" b="1"/>
            </a:lvl2pPr>
            <a:lvl3pPr marL="502920">
              <a:spcBef>
                <a:spcPts val="0"/>
              </a:spcBef>
              <a:spcAft>
                <a:spcPts val="1200"/>
              </a:spcAft>
              <a:defRPr sz="1600" b="1"/>
            </a:lvl3pPr>
            <a:lvl4pPr marL="594360">
              <a:spcBef>
                <a:spcPts val="0"/>
              </a:spcBef>
              <a:spcAft>
                <a:spcPts val="1200"/>
              </a:spcAft>
              <a:defRPr sz="1400" b="1"/>
            </a:lvl4pPr>
            <a:lvl5pPr marL="685800"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84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5CC9A46-E0E7-B31D-3E27-6F4303A45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767669DC-4C7F-9B50-FCC0-F2AF5B2A95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23545" y="584477"/>
            <a:ext cx="10354052" cy="120976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BEF581C2-7562-2E21-E6DD-20AEFC43AAB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923545" y="2009775"/>
            <a:ext cx="10354052" cy="393192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842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3A3E8B6-2BD8-19E0-7F51-7A25EF836F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4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1F96043-F6A4-F581-7DB8-96138F0E401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1514" y="4172989"/>
            <a:ext cx="5057103" cy="25193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bg1"/>
                </a:solidFill>
              </a:defRPr>
            </a:lvl1pPr>
            <a:lvl2pPr marL="7429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aseline="0">
                <a:solidFill>
                  <a:schemeClr val="bg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600" baseline="0">
                <a:solidFill>
                  <a:schemeClr val="bg1"/>
                </a:solidFill>
              </a:defRPr>
            </a:lvl3pPr>
            <a:lvl4pPr marL="16573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aseline="0">
                <a:solidFill>
                  <a:schemeClr val="bg1"/>
                </a:solidFill>
              </a:defRPr>
            </a:lvl4pPr>
            <a:lvl5pPr marL="2000250" indent="-1714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05DE67-EFB0-F6F3-6C08-2FE90284C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4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06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destination.one/unsere-loesung-oneproduct/open-data" TargetMode="External"/><Relationship Id="rId3" Type="http://schemas.openxmlformats.org/officeDocument/2006/relationships/hyperlink" Target="https://luftqualitaet.api.bund.dev/" TargetMode="External"/><Relationship Id="rId7" Type="http://schemas.openxmlformats.org/officeDocument/2006/relationships/hyperlink" Target="https://www.untourism.int/tourism-statistics/tourism-statistics-database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data.europa.eu/en/publications/datastories/high-value-datasets-tourism-eu" TargetMode="External"/><Relationship Id="rId5" Type="http://schemas.openxmlformats.org/officeDocument/2006/relationships/hyperlink" Target="https://open-meteo.com/en/docs" TargetMode="External"/><Relationship Id="rId4" Type="http://schemas.openxmlformats.org/officeDocument/2006/relationships/hyperlink" Target="https://freeapis.io/iqair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40D96-BFFB-05BD-30ED-0352500CD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1" y="2773681"/>
            <a:ext cx="6795589" cy="3200400"/>
          </a:xfrm>
        </p:spPr>
        <p:txBody>
          <a:bodyPr/>
          <a:lstStyle/>
          <a:p>
            <a:r>
              <a:rPr lang="en-US" dirty="0"/>
              <a:t>Data-Science-Project</a:t>
            </a:r>
          </a:p>
        </p:txBody>
      </p:sp>
    </p:spTree>
    <p:extLst>
      <p:ext uri="{BB962C8B-B14F-4D97-AF65-F5344CB8AC3E}">
        <p14:creationId xmlns:p14="http://schemas.microsoft.com/office/powerpoint/2010/main" val="2945390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255621-1D81-03E6-507B-CB20E07035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D9461-B586-5242-1D98-FC144B6F5C2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Tx/>
              <a:buChar char="-"/>
            </a:pPr>
            <a:r>
              <a:rPr lang="de-DE" dirty="0"/>
              <a:t>Air Pollution</a:t>
            </a:r>
          </a:p>
          <a:p>
            <a:pPr marL="342900" indent="-342900">
              <a:buFontTx/>
              <a:buChar char="-"/>
            </a:pPr>
            <a:r>
              <a:rPr lang="de-DE" dirty="0"/>
              <a:t>Movies</a:t>
            </a:r>
          </a:p>
          <a:p>
            <a:pPr marL="342900" indent="-342900">
              <a:buFontTx/>
              <a:buChar char="-"/>
            </a:pPr>
            <a:r>
              <a:rPr lang="de-DE" dirty="0"/>
              <a:t>Arbeitsmarkt</a:t>
            </a:r>
            <a:endParaRPr lang="en-DE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85EFD8C-9F53-87C8-6E18-DFA189F8C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TOpics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542059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6FD5F-786B-1974-5F47-94CA02CFA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2580640"/>
            <a:ext cx="6509657" cy="3368819"/>
          </a:xfrm>
        </p:spPr>
        <p:txBody>
          <a:bodyPr/>
          <a:lstStyle/>
          <a:p>
            <a:r>
              <a:rPr lang="en-US" dirty="0"/>
              <a:t>Air pollution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5653FBA-57C1-8AFA-803B-F0FCC740AB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93742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E4F0B-A6EB-861C-1C34-CAA9BDE47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 Pollution - Questions</a:t>
            </a:r>
            <a:r>
              <a:rPr lang="en-US" sz="32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E0D061-7327-A55C-AF6A-A95C24DD8B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7132C3-EDB2-0E3B-98F1-1D8F26B5C7B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979230" cy="4155757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b="1" u="sng" dirty="0">
                <a:highlight>
                  <a:srgbClr val="FFFF00"/>
                </a:highlight>
              </a:rPr>
              <a:t>1. Long-term Development of Air Pollution</a:t>
            </a:r>
          </a:p>
          <a:p>
            <a:pPr marL="0" indent="0">
              <a:buNone/>
            </a:pPr>
            <a:r>
              <a:rPr lang="en-GB" dirty="0"/>
              <a:t>How have the annual mean concentrations of PM10, PM2, and NO₂ in Germany developed over the period 2000–2025? (This could also be broken down to a monthly level.)</a:t>
            </a:r>
          </a:p>
          <a:p>
            <a:pPr marL="0" indent="0">
              <a:buNone/>
            </a:pPr>
            <a:r>
              <a:rPr lang="en-GB" b="1" u="sng" dirty="0">
                <a:highlight>
                  <a:srgbClr val="FFFF00"/>
                </a:highlight>
              </a:rPr>
              <a:t>1.1 Impact of the COVID-19 Pandemic</a:t>
            </a:r>
          </a:p>
          <a:p>
            <a:pPr marL="0" indent="0">
              <a:buNone/>
            </a:pPr>
            <a:r>
              <a:rPr lang="en-GB" dirty="0"/>
              <a:t>Were there significant changes in NO₂ and PM10 concentrations during the COVID-19-related mobility restrictions (March–May 2020) compared to the same periods in previous years (2017–2019)?</a:t>
            </a:r>
            <a:br>
              <a:rPr lang="en-GB" dirty="0"/>
            </a:br>
            <a:r>
              <a:rPr lang="en-GB" dirty="0"/>
              <a:t>(Possibly also include two years before and after for comparison.)</a:t>
            </a:r>
          </a:p>
          <a:p>
            <a:pPr marL="0" indent="0">
              <a:buNone/>
            </a:pPr>
            <a:r>
              <a:rPr lang="en-GB" b="1" u="sng" dirty="0">
                <a:highlight>
                  <a:srgbClr val="FFFF00"/>
                </a:highlight>
              </a:rPr>
              <a:t>1.2 New Year’s Effect (Fireworks)</a:t>
            </a:r>
          </a:p>
          <a:p>
            <a:pPr marL="0" indent="0">
              <a:buNone/>
            </a:pPr>
            <a:r>
              <a:rPr lang="en-GB" dirty="0"/>
              <a:t>Do the daily mean values of PM10 and PM2 on January 1 differ significantly between the years 2000–2025?</a:t>
            </a:r>
            <a:br>
              <a:rPr lang="en-GB" dirty="0"/>
            </a:br>
            <a:endParaRPr lang="en-GB" u="sng" dirty="0"/>
          </a:p>
          <a:p>
            <a:pPr marL="0" indent="0">
              <a:buNone/>
            </a:pPr>
            <a:r>
              <a:rPr lang="en-GB" b="1" u="sng" dirty="0"/>
              <a:t>2. Proximity to Major Roads</a:t>
            </a:r>
          </a:p>
          <a:p>
            <a:pPr marL="0" indent="0">
              <a:buNone/>
            </a:pPr>
            <a:r>
              <a:rPr lang="en-GB" dirty="0"/>
              <a:t>Do the mean NO₂ concentrations differ significantly between traffic monitoring stations and background stations in urban areas?</a:t>
            </a:r>
            <a:br>
              <a:rPr lang="en-GB" dirty="0"/>
            </a:br>
            <a:endParaRPr lang="en-GB" u="sng" dirty="0"/>
          </a:p>
          <a:p>
            <a:pPr marL="0" indent="0">
              <a:buNone/>
            </a:pPr>
            <a:r>
              <a:rPr lang="en-GB" b="1" u="sng" dirty="0"/>
              <a:t>3. Federal State Comparison</a:t>
            </a:r>
          </a:p>
          <a:p>
            <a:pPr marL="0" indent="0">
              <a:buNone/>
            </a:pPr>
            <a:r>
              <a:rPr lang="en-GB" dirty="0"/>
              <a:t>Are there significant differences in the annual mean PM2 concentrations between the German federal states over the period 2000–2025?</a:t>
            </a:r>
          </a:p>
          <a:p>
            <a:pPr marL="0" indent="0">
              <a:buNone/>
            </a:pPr>
            <a:r>
              <a:rPr lang="en-GB" b="1" u="sng" dirty="0"/>
              <a:t>3.1 Urban vs. Rural</a:t>
            </a:r>
          </a:p>
          <a:p>
            <a:pPr marL="0" indent="0">
              <a:buNone/>
            </a:pPr>
            <a:r>
              <a:rPr lang="en-GB" dirty="0"/>
              <a:t>Do PM10 concentrations differ significantly between urban, suburban, and rural monitoring stations?</a:t>
            </a:r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12000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4E7A8-B0C8-428E-FF7D-5C66FF468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E4526-67CB-CCC2-F24B-4FF3A682E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Air Pollution - </a:t>
            </a:r>
            <a:r>
              <a:rPr lang="en-US" sz="3200" dirty="0" err="1"/>
              <a:t>QUestions</a:t>
            </a:r>
            <a:r>
              <a:rPr lang="en-US" sz="32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F0EBE-0120-BBA0-E9E4-975498B90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3B5248-9F82-0CCB-A2D4-7228D9E5AB5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b="1" u="sng" dirty="0">
                <a:highlight>
                  <a:srgbClr val="FFFF00"/>
                </a:highlight>
              </a:rPr>
              <a:t>4. Germany vs. Other Countries</a:t>
            </a:r>
          </a:p>
          <a:p>
            <a:pPr marL="0" indent="0">
              <a:buNone/>
            </a:pPr>
            <a:r>
              <a:rPr lang="en-GB" dirty="0"/>
              <a:t>How do the annual mean PM2 concentrations in Germany compare to those in comparable EU countries over the </a:t>
            </a:r>
            <a:r>
              <a:rPr lang="en-GB"/>
              <a:t>period 2000–2025?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b="1" u="sng" dirty="0"/>
              <a:t>5. Seasonal Effects</a:t>
            </a:r>
          </a:p>
          <a:p>
            <a:pPr marL="0" indent="0">
              <a:buNone/>
            </a:pPr>
            <a:r>
              <a:rPr lang="en-GB" dirty="0"/>
              <a:t>How strongly do PM10 concentrations vary between winter and summer months (and is this effect more pronounced in urban areas)?</a:t>
            </a:r>
          </a:p>
          <a:p>
            <a:pPr marL="0" indent="0">
              <a:buNone/>
            </a:pPr>
            <a:r>
              <a:rPr lang="en-GB" b="1" u="sng" dirty="0">
                <a:highlight>
                  <a:srgbClr val="FFFF00"/>
                </a:highlight>
              </a:rPr>
              <a:t>6. Ozone and Temperature</a:t>
            </a:r>
          </a:p>
          <a:p>
            <a:pPr marL="0" indent="0">
              <a:buNone/>
            </a:pPr>
            <a:r>
              <a:rPr lang="en-GB" dirty="0"/>
              <a:t>Is there a significant positive correlation between O₃ concentrations and daily maximum temperatures in the German federal states?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b="1" u="sng" dirty="0"/>
              <a:t>7. Long-term Improvement/Deterioration</a:t>
            </a:r>
          </a:p>
          <a:p>
            <a:pPr marL="0" indent="0">
              <a:buNone/>
            </a:pPr>
            <a:r>
              <a:rPr lang="en-GB" dirty="0"/>
              <a:t>Which air pollutants show the strongest significant trends (positive or negative) over the period 2000–2025?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b="1" u="sng" dirty="0"/>
              <a:t>8. Regional Clusters</a:t>
            </a:r>
          </a:p>
          <a:p>
            <a:pPr marL="0" indent="0">
              <a:buNone/>
            </a:pPr>
            <a:r>
              <a:rPr lang="en-GB" dirty="0"/>
              <a:t>Can spatial clusters of high NO₂ or PM10 pollution be identified, and do these correlate with industrial or traffic locations?</a:t>
            </a:r>
          </a:p>
          <a:p>
            <a:pPr marL="0" indent="0">
              <a:buNone/>
            </a:pPr>
            <a:r>
              <a:rPr lang="en-GB" b="1" u="sng" dirty="0"/>
              <a:t>9. Tourism &amp; Air Pollution</a:t>
            </a:r>
          </a:p>
          <a:p>
            <a:pPr marL="0" indent="0">
              <a:buNone/>
            </a:pPr>
            <a:r>
              <a:rPr lang="en-GB" dirty="0"/>
              <a:t>Is there a relationship between seasonal tourism intensity and short-term changes in NO₂ or PM10 concentrations in tourist regions?</a:t>
            </a:r>
          </a:p>
        </p:txBody>
      </p:sp>
    </p:spTree>
    <p:extLst>
      <p:ext uri="{BB962C8B-B14F-4D97-AF65-F5344CB8AC3E}">
        <p14:creationId xmlns:p14="http://schemas.microsoft.com/office/powerpoint/2010/main" val="3969778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11D73-8B08-F823-C04B-9D49D5FA1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FDB1-704C-238A-5CCD-BA0A8E5B4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8458201" cy="1646555"/>
          </a:xfrm>
        </p:spPr>
        <p:txBody>
          <a:bodyPr/>
          <a:lstStyle/>
          <a:p>
            <a:r>
              <a:rPr lang="en-US" dirty="0"/>
              <a:t>Air Pollution</a:t>
            </a:r>
            <a:r>
              <a:rPr lang="en-US" sz="3200" dirty="0"/>
              <a:t> – Measurement criteria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AB4E79-8EB3-EAE9-8F45-5132227914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604483-120F-7AF8-CE69-4DDD3CEAB0F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1) - gemessene Arten der Luftverschmutzung: Feinstaub - Partikel &lt;= 10 </a:t>
            </a:r>
            <a:r>
              <a:rPr lang="de-DE" b="1" dirty="0"/>
              <a:t>µm </a:t>
            </a:r>
            <a:r>
              <a:rPr lang="de-DE" dirty="0"/>
              <a:t>(PM10), Kohlenmonoxid (CO), Ozon (O3), Schwefeldioxid (SO2), Stickstoffdioxid (NO2), Blei im Feinstaub (PM10PB), Benzo(a)pyren im Feinstaub (PM10BAP), Benzol (CHB), Feinstaub - Partikel &lt;= 2 </a:t>
            </a:r>
            <a:r>
              <a:rPr lang="de-DE" b="1" dirty="0"/>
              <a:t>µm </a:t>
            </a:r>
            <a:r>
              <a:rPr lang="de-DE" dirty="0"/>
              <a:t>(PM2), Arsen im Feinstaub (PM10AS), Cadmium im Feinstaub (PM10CD), Nickel im Feinstaub (PM10NI)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2) - Bereiche in denen gemessen wird: alles Bundesländer + UBA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3) - Tagesmittel, Ein-Stunden-Mittelwert, Ein-Stunden-Tagesmaxima, Acht-Stunden-Mittelwert, Acht-Stunden-Tagesmaxima, Tagesmittel (stündlich gleitend)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4) - Lage der Messstation: städtisches Gebiet, vorstädtisches Gebiet, ländliches Gebiet, ländlich abgelegen, ländliche regional, ländlich stadtnah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5) - Stationstypen (was messen sie): Hintergrund, Industrie, Verkehr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6) - Thresholds (Klassifizierungsstufen für die Luftverschmutzung): von 0 bis 4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7) - Ausgabe wann bestimmte Verschmutzungsgrenzen überschritten wurden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8) - viele der oben genannten Kriterien vereint unter einer Suchanfrage mit zeitlicher Abgrenzungsmöglichkeit</a:t>
            </a:r>
            <a:endParaRPr lang="en-DE" dirty="0"/>
          </a:p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38652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45370-C757-726E-5FF8-1FA1ECEAE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FD1E8-BDE0-0655-DCDE-46020B9E7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 pollution</a:t>
            </a:r>
            <a:r>
              <a:rPr lang="en-US" sz="3200" dirty="0"/>
              <a:t> - API</a:t>
            </a:r>
            <a:r>
              <a:rPr lang="en-US" sz="2400" b="1" dirty="0"/>
              <a:t>S</a:t>
            </a:r>
            <a:r>
              <a:rPr lang="en-US" sz="32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9CE2E-01C8-1F02-2284-04FFFCED96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7CAE08-34BE-B312-8081-52845E73133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dirty="0"/>
              <a:t>- Air Pollution API</a:t>
            </a:r>
          </a:p>
          <a:p>
            <a:pPr marL="0" indent="0">
              <a:buNone/>
            </a:pPr>
            <a:r>
              <a:rPr lang="de-DE" u="sng" dirty="0">
                <a:hlinkClick r:id="rId3"/>
              </a:rPr>
              <a:t>https://luftqualitaet.api.bund.dev/</a:t>
            </a:r>
            <a:endParaRPr lang="de-DE" u="sng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de-DE" dirty="0"/>
              <a:t>- APIs from different countries necessary for comparison for question 4</a:t>
            </a:r>
            <a:endParaRPr lang="en-DE" dirty="0"/>
          </a:p>
          <a:p>
            <a:pPr marL="0" indent="0">
              <a:buNone/>
            </a:pPr>
            <a:r>
              <a:rPr lang="de-DE" u="sng" dirty="0">
                <a:hlinkClick r:id="rId4"/>
              </a:rPr>
              <a:t>https://freeapis.io/iqair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 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- Weather-API necessary for question 6</a:t>
            </a:r>
            <a:endParaRPr lang="en-DE" dirty="0"/>
          </a:p>
          <a:p>
            <a:pPr marL="0" indent="0">
              <a:buNone/>
            </a:pPr>
            <a:r>
              <a:rPr lang="de-DE" u="sng" dirty="0">
                <a:hlinkClick r:id="rId5"/>
              </a:rPr>
              <a:t>https://open-meteo.com/en/docs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 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- API necessary for question 9, for tourism figures</a:t>
            </a:r>
            <a:endParaRPr lang="en-DE" dirty="0"/>
          </a:p>
          <a:p>
            <a:pPr marL="0" indent="0">
              <a:buNone/>
            </a:pPr>
            <a:r>
              <a:rPr lang="de-DE" u="sng" dirty="0">
                <a:hlinkClick r:id="rId6"/>
              </a:rPr>
              <a:t>https://data.europa.eu/en/publications/datastories/high-value-datasets-tourism-eu</a:t>
            </a:r>
            <a:endParaRPr lang="en-DE" dirty="0"/>
          </a:p>
          <a:p>
            <a:pPr marL="0" indent="0">
              <a:buNone/>
            </a:pPr>
            <a:r>
              <a:rPr lang="de-DE" u="sng" dirty="0">
                <a:hlinkClick r:id="rId7"/>
              </a:rPr>
              <a:t>https://www.untourism.int/tourism-statistics/tourism-statistics-database</a:t>
            </a:r>
            <a:endParaRPr lang="en-DE" dirty="0"/>
          </a:p>
          <a:p>
            <a:pPr marL="0" indent="0">
              <a:buNone/>
            </a:pPr>
            <a:r>
              <a:rPr lang="de-DE" u="sng" dirty="0">
                <a:hlinkClick r:id="rId8"/>
              </a:rPr>
              <a:t>https://www.destination.one/unsere-loesung-oneproduct/open-data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137142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08221-C29B-07A3-B569-B8B466B10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/>
          <a:lstStyle/>
          <a:p>
            <a:r>
              <a:rPr lang="en-US" dirty="0"/>
              <a:t>Movies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EA7D4-8B96-5A0E-252E-6B8E8B1CF1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096000" y="4172990"/>
            <a:ext cx="4896677" cy="2309726"/>
          </a:xfrm>
        </p:spPr>
        <p:txBody>
          <a:bodyPr/>
          <a:lstStyle/>
          <a:p>
            <a:endParaRPr lang="en-US" noProof="1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DD93B73-7F8F-B185-FCFB-43D30AEC7D5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60417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2D586-3F7C-3202-E4F4-1F65B9A7D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10363201" cy="1629601"/>
          </a:xfrm>
        </p:spPr>
        <p:txBody>
          <a:bodyPr/>
          <a:lstStyle/>
          <a:p>
            <a:r>
              <a:rPr lang="en-US" dirty="0"/>
              <a:t>Movies -questions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4FFC83-A1E8-FCEA-2C47-38C5ADAEA1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4A2A866-32E8-7ECA-A581-4AA876CAF02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14399" y="2022250"/>
            <a:ext cx="10363201" cy="374718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/>
              <a:t>1. Does the release of „big“ and successful movie releases influence the popularity of the genre?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2. Does the budget of a movie or show influence the movies success?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3. What characteristics do influence movies to be discussed more online?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4. Does the release timing of a movie or show influence it's success?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5. What film genres gained more popularity over time?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6. Do critics reviews influence the opinion of users?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7. Do long releases between season of a show cause users to drop interest in them?</a:t>
            </a:r>
            <a:endParaRPr lang="en-DE" dirty="0"/>
          </a:p>
          <a:p>
            <a:pPr marL="0" lvl="0" indent="0">
              <a:buNone/>
            </a:pPr>
            <a:r>
              <a:rPr lang="de-DE" dirty="0"/>
              <a:t>8. Does excitement online before a release influence the success of a show?</a:t>
            </a:r>
            <a:endParaRPr lang="en-DE" dirty="0"/>
          </a:p>
          <a:p>
            <a:pPr marL="0" lvl="0" indent="0">
              <a:buNone/>
            </a:pPr>
            <a:r>
              <a:rPr lang="de-DE" dirty="0"/>
              <a:t>9. Does the general opinion you see on social media influence the success? (is social media a bubble)</a:t>
            </a:r>
            <a:endParaRPr lang="en-DE" dirty="0"/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30403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EDEF1-B0B2-8A89-DEDA-0B5A5BE6A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7642B-5BBF-2618-EB96-E3FFB1C0F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10363201" cy="1629601"/>
          </a:xfrm>
        </p:spPr>
        <p:txBody>
          <a:bodyPr/>
          <a:lstStyle/>
          <a:p>
            <a:r>
              <a:rPr lang="en-US" dirty="0"/>
              <a:t>Movies - Measurement criteria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F7E6A2-B2C9-55AB-E7D0-56110A8BD9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806F918-9F3D-65E9-5302-A6EF42332DC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14399" y="2022250"/>
            <a:ext cx="10363201" cy="3747180"/>
          </a:xfrm>
        </p:spPr>
        <p:txBody>
          <a:bodyPr>
            <a:normAutofit/>
          </a:bodyPr>
          <a:lstStyle/>
          <a:p>
            <a:pPr lvl="0"/>
            <a:r>
              <a:rPr lang="de-DE" dirty="0"/>
              <a:t>User Ratings</a:t>
            </a:r>
            <a:endParaRPr lang="en-DE" dirty="0"/>
          </a:p>
          <a:p>
            <a:pPr lvl="0"/>
            <a:r>
              <a:rPr lang="de-DE" dirty="0"/>
              <a:t>Release timing</a:t>
            </a:r>
            <a:endParaRPr lang="en-DE" dirty="0"/>
          </a:p>
          <a:p>
            <a:pPr lvl="0"/>
            <a:r>
              <a:rPr lang="de-DE" dirty="0"/>
              <a:t>Wikimedia views</a:t>
            </a:r>
            <a:endParaRPr lang="en-DE" dirty="0"/>
          </a:p>
          <a:p>
            <a:pPr lvl="0"/>
            <a:r>
              <a:rPr lang="de-DE" dirty="0"/>
              <a:t>Budget</a:t>
            </a:r>
            <a:endParaRPr lang="en-DE" dirty="0"/>
          </a:p>
          <a:p>
            <a:pPr lvl="0"/>
            <a:r>
              <a:rPr lang="de-DE" dirty="0"/>
              <a:t>Profit</a:t>
            </a:r>
            <a:endParaRPr lang="en-DE" dirty="0"/>
          </a:p>
          <a:p>
            <a:pPr lvl="0"/>
            <a:r>
              <a:rPr lang="de-DE" dirty="0"/>
              <a:t>Youtube view counts</a:t>
            </a:r>
            <a:endParaRPr lang="en-DE" dirty="0"/>
          </a:p>
          <a:p>
            <a:pPr lvl="0"/>
            <a:r>
              <a:rPr lang="de-DE" dirty="0"/>
              <a:t>Google search request amounts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3180889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84A1D-560C-C239-8F10-F247DDB23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2A690-BC3C-6848-8977-92451B9F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10363201" cy="1629601"/>
          </a:xfrm>
        </p:spPr>
        <p:txBody>
          <a:bodyPr/>
          <a:lstStyle/>
          <a:p>
            <a:r>
              <a:rPr lang="en-US" dirty="0"/>
              <a:t>Movies -API</a:t>
            </a:r>
            <a:r>
              <a:rPr lang="en-US" sz="2400" b="1" dirty="0"/>
              <a:t>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1ACBE2-0C1D-1832-B350-ADA804DBB3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1777FC7-8F96-5BF0-C016-124249732B9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14399" y="2022250"/>
            <a:ext cx="10363201" cy="37471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u="sng" dirty="0"/>
              <a:t>APIs for movies:</a:t>
            </a:r>
            <a:endParaRPr lang="en-DE" dirty="0"/>
          </a:p>
          <a:p>
            <a:r>
              <a:rPr lang="de-DE" dirty="0"/>
              <a:t>Open movie database (OMDb)</a:t>
            </a:r>
            <a:endParaRPr lang="en-DE" dirty="0"/>
          </a:p>
          <a:p>
            <a:r>
              <a:rPr lang="de-DE" dirty="0"/>
              <a:t>Wikimedia API</a:t>
            </a:r>
            <a:endParaRPr lang="en-DE" dirty="0"/>
          </a:p>
          <a:p>
            <a:r>
              <a:rPr lang="de-DE" dirty="0"/>
              <a:t>Youtube Analytics API</a:t>
            </a:r>
            <a:endParaRPr lang="en-DE" dirty="0"/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2421694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B42E0-D964-B6C3-AF9A-F5B8D5393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BCCE5-F289-B0C4-A7A9-E077B6280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580640"/>
            <a:ext cx="5181600" cy="3368819"/>
          </a:xfrm>
        </p:spPr>
        <p:txBody>
          <a:bodyPr/>
          <a:lstStyle/>
          <a:p>
            <a:r>
              <a:rPr lang="en-US" dirty="0" err="1"/>
              <a:t>Arbeitsmarkt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9D5643F-7075-BCB1-65F0-44E8A2D6AFA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453021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DB0AE-5ADD-1975-6BDD-386089250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</p:spPr>
        <p:txBody>
          <a:bodyPr/>
          <a:lstStyle/>
          <a:p>
            <a:r>
              <a:rPr lang="en-US" dirty="0" err="1"/>
              <a:t>Arbeitsmarkt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27E5DB-AFB6-9088-87C9-1F671C0B03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3D4C493-6B56-BE2A-51E3-AC9B485C5C8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14398" y="2018120"/>
            <a:ext cx="10439401" cy="3747180"/>
          </a:xfrm>
        </p:spPr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569699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7B52831-0916-294C-0ACB-9774B9805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E82E216E-9EE0-9D3F-D692-083F575A3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15" y="374090"/>
            <a:ext cx="5057104" cy="3624984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76993264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22318419_win32_SL_V9" id="{8502042B-488E-4F33-AD20-77B40A1BC1AA}" vid="{A90C26AF-23CA-48C5-BFF9-84DC7B1C91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B045227-5724-4DBF-9712-031B1BFB2C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B7B39BD0-040C-43BE-B0E4-512B09E8003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22457D9-12AC-4794-A05E-F1B90FCD8D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Minimalist sales pitch</Template>
  <TotalTime>149</TotalTime>
  <Words>866</Words>
  <Application>Microsoft Office PowerPoint</Application>
  <PresentationFormat>Widescreen</PresentationFormat>
  <Paragraphs>105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Tenorite</vt:lpstr>
      <vt:lpstr>Custom</vt:lpstr>
      <vt:lpstr>Data-Science-Project</vt:lpstr>
      <vt:lpstr>TOpics</vt:lpstr>
      <vt:lpstr>Air pollution</vt:lpstr>
      <vt:lpstr>Air Pollution - Questions </vt:lpstr>
      <vt:lpstr>Air Pollution - QUestions </vt:lpstr>
      <vt:lpstr>Air Pollution – Measurement criteria </vt:lpstr>
      <vt:lpstr>Air pollution - APIS </vt:lpstr>
      <vt:lpstr>Movies</vt:lpstr>
      <vt:lpstr>Movies -questions</vt:lpstr>
      <vt:lpstr>Movies - Measurement criteria </vt:lpstr>
      <vt:lpstr>Movies -APIs</vt:lpstr>
      <vt:lpstr>Arbeitsmarkt</vt:lpstr>
      <vt:lpstr>Arbeitsmarkt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 F</dc:creator>
  <cp:lastModifiedBy>F F</cp:lastModifiedBy>
  <cp:revision>10</cp:revision>
  <dcterms:created xsi:type="dcterms:W3CDTF">2026-02-26T09:58:22Z</dcterms:created>
  <dcterms:modified xsi:type="dcterms:W3CDTF">2026-02-26T12:28:10Z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